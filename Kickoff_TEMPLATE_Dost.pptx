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9144000" cy="5143500"/>
  <p:embeddedFontLst>
    <p:embeddedFont>
      <p:font typeface="Inter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GUÍA DEL PRESENTADOR — PORTADA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Esta es la apertura. No hace falta más que un saludo breve.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Tiempo objetivo del kickoff completo: 30 minutos (Fernando dixit).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Recuerda: el kickoff NO es una reunión funcional. Tú diriges, el cliente escucha y valida.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ANTES DEL KICKOFF — CHECKLIST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Leído el contrato — confirmados módulos, transacciones, proveedores, usuarios, integración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Leído el handover de Sales (o correo/notas equivalentes)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Leída la VDT (si existe)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Reunión interna previa con: AM, Tech Consultant, Partner (si aplica)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Riesgos identificados y comunicados internamente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Plan de trabajo (Gantt) ajustado a fechas realistas — no a las del comercial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Partner alineado: quién hace qué, qué espera del cliente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DEL PROYECTO (uso interno)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Cliente: Serigrafic SA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ARR: [Confirmar con AM]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Prioridad estratégica: [Alta/Media/Baja — del handover]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de referencia potencial: [Sí/No — del handover]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GUÍA DEL PRESENTADOR — AGENDA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Lee los 6 puntos rápidamente. No expliques cada uno.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Mensaje: "Hoy vamos a alinear todos en lo que ya está acordado y arrancar formalmente el proyecto."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Tiempo: menos de 1 minuto en este slide.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GUÍA DEL PRESENTADOR — CONTEXTO Y NECESIDADES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Demuestra que conoces el negocio del cliente. No leas el slide — cuéntalo.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Lee primero el contexto, valida con el cliente: "¿Es así como lo entendemos nosotros?"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Luego pasa a los objetivos prioritarios. Aquí SÍ puedes preguntar: "¿Hay algún objetivo adicional que no hayamos capturado?"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Tiempo: 2-3 minutos.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DEL CLIENTE (uso interno)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ARR: 4.400 €/año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Sector / Compliance: Sin requisitos especiales detectados. Cliente nacional (España), 1 entidad, B2B estándar.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Champion lleva: ⚠️ No documentado en handover. buscando solución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Capital político invertido: Prioridad estratégica BAJA según handover. ARR bajo. Manejar expectativas realistas. Cliente en Aspe (Alicante) — desplazamientos NO incluidos (cláusula 4.5).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Cierre comunicado al cliente: Contrato: 5.000 transacciones/año. Handover: ≈3.600 facturas reales/año. Diferencia del 39%. Si el cliente supera las 5.000, según cláusula 6.3 se aplica siguiente tramo automáticamente y se factura prorrateado por meses restantes. Si no las alcanza, NO hay devolución (cláusula 6.3).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GUÍA DEL PRESENTADOR — ALCANCE Y COMPROMISO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ESTE ES EL SLIDE MÁS IMPORTANTE DEL KICKOFF (15 minutos según Fernando).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El mensaje: "Estos son los términos del proyecto. Vamos a alinearnos uno a uno."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PRESENTAR EL CASO DE USO: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Recita lo contratado: tipo de documentos, volumen, integración, duración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Valida con el cliente: "¿Es exactamente esto lo que esperabais?"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Si dice que NO o que esperaba otra cosa: NO renegocies aquí. Anótalo y di "déjame que lo revise internamente con el equipo comercial y te respondo."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PRESENTAR EL COMPROMISO: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El bloque de la derecha pone las reglas del juego: Dost es SaaS, no consultora.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Cambios fuera del documento funcional → Premium Care (con coste).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Subraya la agilidad: cumplimiento de fechas, respuestas, documentación, pruebas.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PRESENTAR VALIDACIONES PENDIENTES (⚠️):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NO uses la palabra "riesgo" delante del cliente. Usa "puntos a validar técnicamente antes de comprometer fechas finales".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Mensaje: "Hemos detectado estas complejidades técnicas en la fase de pre-venta. Antes de cerrar el plan en detalle, las validamos conjuntamente."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RIESGOS INTERNOS (NO compartir con cliente)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RIESGO ALTO: ALTO — Stakeholder único en cliente: solo Sema (CFO) identificado. Sin contacto IT propio del cliente. Bus factor alto. Dependencia 100% de Milmoh para todo lo del ERP. Si Sema delega o cambia de prioridad, no hay backup interno.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RIESGO ALTO: 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RIESGO MEDIO: MEDIO — Sin VDT formal + ERP Query (poco común): la calidad de la exportación CSV depende de plantillas a medida. Nadie ha verificado que Query acepte el formato que Dost genera. // MEDIO — Dependencia técnica de Milmoh sin SLA acordado: si tardan en configurar el lado ERP, el onboarding Dost se bloquea. Pedir compromiso de disponibilidad en S1-S2.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RIESGO BAJO: BAJO — Volumen contratado sobredimensionado (5.000 contratadas vs ≈3.600 reales, +39%). Riesgo de percepción de sobrecoste del cliente. // BAJO — Posible upsell albaranes mencionado en handover (sección 10). Puede crear expectativa del cliente de activación 'automática' futura. Gestionar mensaje en kickoff: ahora SOLO extracción de facturas; conciliación queda como decisión posterior tras éxito.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CLÁUSULAS CONTRACTUALES CLAVE A RECORDAR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🔔 CONDICIONES CONTRACTUALES ESPECIALES: (1) Facturación a 45 días desde firma — vencimiento aprox. 01/06/2026 (no 'en el momento de contratación' como es estándar en cláusula 4.3). (2) Onboarding 'Softboarding' — modalidad reducida, sin co-creación intensiva. (3) Caso de uso 'extracción de cabeceras y detalle de impuestos' — sin conciliación, sin líneas completas. (4) 1 único usuario administrador, 1 entidad, SEPA 30d (estándar).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GUÍA DEL PRESENTADOR — PLAN DE TRABAJO (GANTT)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Las semanas son RELATIVAS (S1, S2...) no fechas absolutas. La fecha 0 (S1) se acuerda al final del kickoff.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Cita la nota al pie en alto: "Todo lo que no esté en este plan, no forma parte del proyecto de onboarding."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Si el Gantt comercial inicial era muy optimista, AHORA es el momento de ajustarlo: "Sobre el cronograma inicial, dado que [razón], las fechas serán [esto]." NO cambies todo, solo lo necesario.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Tiempo: 5-8 minutos.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DESVIACIONES vs CRONOGRAMA COMERCIAL (uso interno)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Contrato cláusula 1.4 incluye 'Jornada de consultoría para decidir tipo de conexión'. Handover ya cierra: ERP Query + CSV. La jornada se da por consumida en fase comercial. NO presentarla como pendiente al cliente en kickoff — el cliente puede sentirse 'descontado' algo que ya hemos cerrado entre AE y CSM.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DEPENDENCIAS DEL PARTNER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Milmoh es dependencia clave para configuración del lado ERP Query. SIN SLA acordado entre Dost y Milmoh. Pedir disponibilidad y compromiso de Juanjo Mila / Elia Robles en S1-S2 para no bloquear S3-S6 (configuración + entrenamiento). ⚠️ Confirmar internamente con Sales/Pol si Milmoh es partner conocido de Dost (handover dice 'están en contacto con Pol para futuros proyectos') o solo partner del cliente.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HITOS CRÍTICOS NEGOCIADOS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 objetivo go-live: Inicio servicio contractual: 20/04/2026 (ya activo). Onboarding comunicado en handover: 8 semanas desde kickoff. Con kickoff el 29/05/2026 → go-live aprox. 24/07/2026.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Validación funcional: ⚠️ Pendiente — fijar tras kickoff. Recordatorio cláusula 2.2: cliente tiene 48h desde envío del Documento Funcional Inicial para feedback escrito; si no responde, se da por aceptado. Avisar a Sema de este plazo.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Constraints del cliente: Cliente en Aspe (Alicante). Desplazamientos NO incluidos en contrato (cláusula 4.5). Cualquier visita presencial requiere aprobación previa del cliente y se factura aparte. Por defecto: 100% remoto.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GUÍA DEL PRESENTADOR — INFORMACIÓN NECESARIA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Estos son los DEBERES del cliente. Sin estos inputs, no podemos arrancar.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Pon fecha a cada deber: "Esto lo necesitamos antes del [fecha]."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Pregunta: "¿Quién del equipo se encarga de prepararlo?"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Si el cliente no se compromete con fechas concretas, esto es una red flag — anótalo.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Tiempo: 3 minutos.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RESPONSABLES POR ÍTEM (uso interno)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 (CFO) responsable global del lado cliente. Para tema ERP/CSV: Juanjo Mila / Elia Robles (Milmoh). Para muestras de facturas y selección de los 10 proveedores: equipo financiero de Serigrafic a designar por Sema.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DEPENDENCIAS CRÍTICAS QUE PUEDEN BLOQUEAR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(1) Estructura CSV del ERP Query → depende de Milmoh — sin esto, no podemos configurar plantillas de volcado. (2) Lista de los 10 proveedores para entrenamiento → depende del cliente. (3) Flujo de aprobación (5-6 agentes, reglas, niveles) → depende del cliente, decisión en sesión funcional. (4) Muestras reales de facturas (PDFs) → cliente.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GUÍA DEL PRESENTADOR — PRÓXIMOS PASOS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Cierre del kickoff. Aquí se acuerdan FECHAS CONCRETAS, no genéricas.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Reunión de seguimiento semanal: día y hora fijos.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Primera reunión funcional: fecha exacta antes de salir del kickoff.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Mensaje final: "Os enviamos un acta breve con todo esto en las próximas 24h."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Tiempo: 2 minutos.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ACCIONES POST-KICKOFF (CSM)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Enviar acta de kickoff en 24h con: alcance confirmado, plan acordado, deberes del cliente y fechas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Crear evento recurrente de seguimiento en calendario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Confirmar fecha primera reunión funcional con todos los asistentes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Compartir documento con preguntas funcionales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Notificar al equipo interno (Tech, AM, Product) del arranque oficial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Subir acta y plantilla a la carpeta del cliente en Drive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DE CIERRE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Cierra con calidez. "Gracias por la confianza, nos vemos pronto."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No prolongues. Si el cliente quiere charlar, perfecto, pero la presentación formal termina aquí.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GUÍA DEL PRESENTADOR — CONTEXTO Y NECESIDADES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Demuestra que conoces el negocio del cliente. No leas el slide — cuéntalo.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Lee primero el contexto, valida con el cliente: "¿Es así como lo entendemos nosotros?"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Luego pasa a los objetivos prioritarios. Aquí SÍ puedes preguntar: "¿Hay algún objetivo adicional que no hayamos capturado?"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Tiempo: 2-3 minutos.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DEL CLIENTE (uso interno)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═══════════════════════════════════════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ARR: 4.400 €/año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Sector / Compliance: Sin requisitos especiales detectados. Cliente nacional (España), 1 entidad, B2B estándar.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Champion lleva: ⚠️ No documentado en handover. buscando solución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Capital político invertido: Prioridad estratégica BAJA según handover. ARR bajo. Manejar expectativas realistas. Cliente en Aspe (Alicante) — desplazamientos NO incluidos (cláusula 4.5).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Cierre comunicado al cliente: Contrato: 5.000 transacciones/año. Handover: ≈3.600 facturas reales/año. Diferencia del 39%. Si el cliente supera las 5.000, según cláusula 6.3 se aplica siguiente tramo automáticamente y se factura prorrateado por meses restantes. Si no las alcanza, NO hay devolución (cláusula 6.3).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99550" y="204785"/>
            <a:ext cx="8344899" cy="6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57613" y="1060087"/>
            <a:ext cx="8209280" cy="336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99550" y="204785"/>
            <a:ext cx="8344899" cy="6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543600" y="1422146"/>
            <a:ext cx="3650615" cy="2625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5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9019" y="2002917"/>
            <a:ext cx="3336280" cy="151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9563" y="2069848"/>
            <a:ext cx="3135191" cy="131243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/>
          <p:nvPr/>
        </p:nvSpPr>
        <p:spPr>
          <a:xfrm>
            <a:off x="2848001" y="1938394"/>
            <a:ext cx="3374390" cy="1398270"/>
          </a:xfrm>
          <a:custGeom>
            <a:rect b="b" l="l" r="r" t="t"/>
            <a:pathLst>
              <a:path extrusionOk="0" h="1398270" w="3374390">
                <a:moveTo>
                  <a:pt x="1583554" y="1398208"/>
                </a:moveTo>
                <a:lnTo>
                  <a:pt x="1518547" y="1397512"/>
                </a:lnTo>
                <a:lnTo>
                  <a:pt x="1454241" y="1395790"/>
                </a:lnTo>
                <a:lnTo>
                  <a:pt x="1390681" y="1393061"/>
                </a:lnTo>
                <a:lnTo>
                  <a:pt x="1327917" y="1389342"/>
                </a:lnTo>
                <a:lnTo>
                  <a:pt x="1265995" y="1384652"/>
                </a:lnTo>
                <a:lnTo>
                  <a:pt x="1204963" y="1379008"/>
                </a:lnTo>
                <a:lnTo>
                  <a:pt x="1144870" y="1372429"/>
                </a:lnTo>
                <a:lnTo>
                  <a:pt x="1085762" y="1364933"/>
                </a:lnTo>
                <a:lnTo>
                  <a:pt x="1027687" y="1356537"/>
                </a:lnTo>
                <a:lnTo>
                  <a:pt x="970693" y="1347260"/>
                </a:lnTo>
                <a:lnTo>
                  <a:pt x="914828" y="1337119"/>
                </a:lnTo>
                <a:lnTo>
                  <a:pt x="860140" y="1326134"/>
                </a:lnTo>
                <a:lnTo>
                  <a:pt x="806675" y="1314320"/>
                </a:lnTo>
                <a:lnTo>
                  <a:pt x="754482" y="1301698"/>
                </a:lnTo>
                <a:lnTo>
                  <a:pt x="703608" y="1288283"/>
                </a:lnTo>
                <a:lnTo>
                  <a:pt x="654102" y="1274096"/>
                </a:lnTo>
                <a:lnTo>
                  <a:pt x="606010" y="1259153"/>
                </a:lnTo>
                <a:lnTo>
                  <a:pt x="559380" y="1243473"/>
                </a:lnTo>
                <a:lnTo>
                  <a:pt x="514261" y="1227074"/>
                </a:lnTo>
                <a:lnTo>
                  <a:pt x="470699" y="1209973"/>
                </a:lnTo>
                <a:lnTo>
                  <a:pt x="428743" y="1192189"/>
                </a:lnTo>
                <a:lnTo>
                  <a:pt x="388439" y="1173740"/>
                </a:lnTo>
                <a:lnTo>
                  <a:pt x="349837" y="1154644"/>
                </a:lnTo>
                <a:lnTo>
                  <a:pt x="312983" y="1134918"/>
                </a:lnTo>
                <a:lnTo>
                  <a:pt x="277925" y="1114581"/>
                </a:lnTo>
                <a:lnTo>
                  <a:pt x="244710" y="1093650"/>
                </a:lnTo>
                <a:lnTo>
                  <a:pt x="184003" y="1050082"/>
                </a:lnTo>
                <a:lnTo>
                  <a:pt x="131244" y="1004356"/>
                </a:lnTo>
                <a:lnTo>
                  <a:pt x="86812" y="956618"/>
                </a:lnTo>
                <a:lnTo>
                  <a:pt x="51091" y="907011"/>
                </a:lnTo>
                <a:lnTo>
                  <a:pt x="24461" y="855679"/>
                </a:lnTo>
                <a:lnTo>
                  <a:pt x="7303" y="802767"/>
                </a:lnTo>
                <a:lnTo>
                  <a:pt x="0" y="748418"/>
                </a:lnTo>
                <a:lnTo>
                  <a:pt x="157" y="720998"/>
                </a:lnTo>
                <a:lnTo>
                  <a:pt x="8024" y="666761"/>
                </a:lnTo>
                <a:lnTo>
                  <a:pt x="25654" y="613464"/>
                </a:lnTo>
                <a:lnTo>
                  <a:pt x="52680" y="561274"/>
                </a:lnTo>
                <a:lnTo>
                  <a:pt x="88731" y="510356"/>
                </a:lnTo>
                <a:lnTo>
                  <a:pt x="133440" y="460877"/>
                </a:lnTo>
                <a:lnTo>
                  <a:pt x="186437" y="413003"/>
                </a:lnTo>
                <a:lnTo>
                  <a:pt x="247354" y="366900"/>
                </a:lnTo>
                <a:lnTo>
                  <a:pt x="280667" y="344564"/>
                </a:lnTo>
                <a:lnTo>
                  <a:pt x="315822" y="322734"/>
                </a:lnTo>
                <a:lnTo>
                  <a:pt x="352773" y="301428"/>
                </a:lnTo>
                <a:lnTo>
                  <a:pt x="391473" y="280670"/>
                </a:lnTo>
                <a:lnTo>
                  <a:pt x="431877" y="260478"/>
                </a:lnTo>
                <a:lnTo>
                  <a:pt x="473938" y="240874"/>
                </a:lnTo>
                <a:lnTo>
                  <a:pt x="517610" y="221879"/>
                </a:lnTo>
                <a:lnTo>
                  <a:pt x="562848" y="203514"/>
                </a:lnTo>
                <a:lnTo>
                  <a:pt x="609604" y="185798"/>
                </a:lnTo>
                <a:lnTo>
                  <a:pt x="657834" y="168754"/>
                </a:lnTo>
                <a:lnTo>
                  <a:pt x="707490" y="152401"/>
                </a:lnTo>
                <a:lnTo>
                  <a:pt x="758528" y="136761"/>
                </a:lnTo>
                <a:lnTo>
                  <a:pt x="810900" y="121854"/>
                </a:lnTo>
                <a:lnTo>
                  <a:pt x="864561" y="107700"/>
                </a:lnTo>
                <a:lnTo>
                  <a:pt x="919464" y="94322"/>
                </a:lnTo>
                <a:lnTo>
                  <a:pt x="975564" y="81739"/>
                </a:lnTo>
                <a:lnTo>
                  <a:pt x="1032814" y="69972"/>
                </a:lnTo>
                <a:lnTo>
                  <a:pt x="1091169" y="59041"/>
                </a:lnTo>
                <a:lnTo>
                  <a:pt x="1150581" y="48969"/>
                </a:lnTo>
                <a:lnTo>
                  <a:pt x="1211006" y="39775"/>
                </a:lnTo>
                <a:lnTo>
                  <a:pt x="1272397" y="31480"/>
                </a:lnTo>
                <a:lnTo>
                  <a:pt x="1334708" y="24105"/>
                </a:lnTo>
                <a:lnTo>
                  <a:pt x="1397893" y="17671"/>
                </a:lnTo>
                <a:lnTo>
                  <a:pt x="1461906" y="12198"/>
                </a:lnTo>
                <a:lnTo>
                  <a:pt x="1526700" y="7707"/>
                </a:lnTo>
                <a:lnTo>
                  <a:pt x="1592230" y="4219"/>
                </a:lnTo>
                <a:lnTo>
                  <a:pt x="1658449" y="1755"/>
                </a:lnTo>
                <a:lnTo>
                  <a:pt x="1724712" y="347"/>
                </a:lnTo>
                <a:lnTo>
                  <a:pt x="1790370" y="0"/>
                </a:lnTo>
                <a:lnTo>
                  <a:pt x="1855377" y="696"/>
                </a:lnTo>
                <a:lnTo>
                  <a:pt x="1919683" y="2418"/>
                </a:lnTo>
                <a:lnTo>
                  <a:pt x="1983243" y="5147"/>
                </a:lnTo>
                <a:lnTo>
                  <a:pt x="2046007" y="8865"/>
                </a:lnTo>
                <a:lnTo>
                  <a:pt x="2107929" y="13556"/>
                </a:lnTo>
                <a:lnTo>
                  <a:pt x="2168961" y="19199"/>
                </a:lnTo>
                <a:lnTo>
                  <a:pt x="2229054" y="25778"/>
                </a:lnTo>
                <a:lnTo>
                  <a:pt x="2288162" y="33275"/>
                </a:lnTo>
                <a:lnTo>
                  <a:pt x="2346237" y="41670"/>
                </a:lnTo>
                <a:lnTo>
                  <a:pt x="2403231" y="50947"/>
                </a:lnTo>
                <a:lnTo>
                  <a:pt x="2459096" y="61088"/>
                </a:lnTo>
                <a:lnTo>
                  <a:pt x="2513784" y="72074"/>
                </a:lnTo>
                <a:lnTo>
                  <a:pt x="2567249" y="83887"/>
                </a:lnTo>
                <a:lnTo>
                  <a:pt x="2619442" y="96510"/>
                </a:lnTo>
                <a:lnTo>
                  <a:pt x="2670316" y="109924"/>
                </a:lnTo>
                <a:lnTo>
                  <a:pt x="2719822" y="124111"/>
                </a:lnTo>
                <a:lnTo>
                  <a:pt x="2767914" y="139054"/>
                </a:lnTo>
                <a:lnTo>
                  <a:pt x="2814544" y="154734"/>
                </a:lnTo>
                <a:lnTo>
                  <a:pt x="2859663" y="171134"/>
                </a:lnTo>
                <a:lnTo>
                  <a:pt x="2903225" y="188234"/>
                </a:lnTo>
                <a:lnTo>
                  <a:pt x="2945181" y="206018"/>
                </a:lnTo>
                <a:lnTo>
                  <a:pt x="2985485" y="224468"/>
                </a:lnTo>
                <a:lnTo>
                  <a:pt x="3024087" y="243564"/>
                </a:lnTo>
                <a:lnTo>
                  <a:pt x="3060941" y="263290"/>
                </a:lnTo>
                <a:lnTo>
                  <a:pt x="3095999" y="283627"/>
                </a:lnTo>
                <a:lnTo>
                  <a:pt x="3129214" y="304557"/>
                </a:lnTo>
                <a:lnTo>
                  <a:pt x="3189921" y="348126"/>
                </a:lnTo>
                <a:lnTo>
                  <a:pt x="3242680" y="393851"/>
                </a:lnTo>
                <a:lnTo>
                  <a:pt x="3287112" y="441589"/>
                </a:lnTo>
                <a:lnTo>
                  <a:pt x="3322833" y="491196"/>
                </a:lnTo>
                <a:lnTo>
                  <a:pt x="3349463" y="542528"/>
                </a:lnTo>
                <a:lnTo>
                  <a:pt x="3366621" y="595441"/>
                </a:lnTo>
                <a:lnTo>
                  <a:pt x="3373925" y="649790"/>
                </a:lnTo>
                <a:lnTo>
                  <a:pt x="3373768" y="677209"/>
                </a:lnTo>
                <a:lnTo>
                  <a:pt x="3365901" y="731447"/>
                </a:lnTo>
                <a:lnTo>
                  <a:pt x="3348270" y="784744"/>
                </a:lnTo>
                <a:lnTo>
                  <a:pt x="3321245" y="836934"/>
                </a:lnTo>
                <a:lnTo>
                  <a:pt x="3285193" y="887851"/>
                </a:lnTo>
                <a:lnTo>
                  <a:pt x="3240485" y="937330"/>
                </a:lnTo>
                <a:lnTo>
                  <a:pt x="3187488" y="985204"/>
                </a:lnTo>
                <a:lnTo>
                  <a:pt x="3126570" y="1031307"/>
                </a:lnTo>
                <a:lnTo>
                  <a:pt x="3093257" y="1053643"/>
                </a:lnTo>
                <a:lnTo>
                  <a:pt x="3058102" y="1075474"/>
                </a:lnTo>
                <a:lnTo>
                  <a:pt x="3021151" y="1096779"/>
                </a:lnTo>
                <a:lnTo>
                  <a:pt x="2982451" y="1117538"/>
                </a:lnTo>
                <a:lnTo>
                  <a:pt x="2942047" y="1137729"/>
                </a:lnTo>
                <a:lnTo>
                  <a:pt x="2899986" y="1157333"/>
                </a:lnTo>
                <a:lnTo>
                  <a:pt x="2856314" y="1176328"/>
                </a:lnTo>
                <a:lnTo>
                  <a:pt x="2811077" y="1194694"/>
                </a:lnTo>
                <a:lnTo>
                  <a:pt x="2764320" y="1212409"/>
                </a:lnTo>
                <a:lnTo>
                  <a:pt x="2716090" y="1229453"/>
                </a:lnTo>
                <a:lnTo>
                  <a:pt x="2666434" y="1245806"/>
                </a:lnTo>
                <a:lnTo>
                  <a:pt x="2615397" y="1261447"/>
                </a:lnTo>
                <a:lnTo>
                  <a:pt x="2563024" y="1276354"/>
                </a:lnTo>
                <a:lnTo>
                  <a:pt x="2509364" y="1290507"/>
                </a:lnTo>
                <a:lnTo>
                  <a:pt x="2454460" y="1303886"/>
                </a:lnTo>
                <a:lnTo>
                  <a:pt x="2398360" y="1316469"/>
                </a:lnTo>
                <a:lnTo>
                  <a:pt x="2341110" y="1328236"/>
                </a:lnTo>
                <a:lnTo>
                  <a:pt x="2282756" y="1339166"/>
                </a:lnTo>
                <a:lnTo>
                  <a:pt x="2223343" y="1349238"/>
                </a:lnTo>
                <a:lnTo>
                  <a:pt x="2162918" y="1358432"/>
                </a:lnTo>
                <a:lnTo>
                  <a:pt x="2101527" y="1366727"/>
                </a:lnTo>
                <a:lnTo>
                  <a:pt x="2039216" y="1374102"/>
                </a:lnTo>
                <a:lnTo>
                  <a:pt x="1976031" y="1380537"/>
                </a:lnTo>
                <a:lnTo>
                  <a:pt x="1912018" y="1386009"/>
                </a:lnTo>
                <a:lnTo>
                  <a:pt x="1847224" y="1390500"/>
                </a:lnTo>
                <a:lnTo>
                  <a:pt x="1781694" y="1393988"/>
                </a:lnTo>
                <a:lnTo>
                  <a:pt x="1715475" y="1396452"/>
                </a:lnTo>
                <a:lnTo>
                  <a:pt x="1649212" y="1397861"/>
                </a:lnTo>
                <a:lnTo>
                  <a:pt x="1583554" y="1398208"/>
                </a:lnTo>
                <a:close/>
              </a:path>
            </a:pathLst>
          </a:custGeom>
          <a:solidFill>
            <a:srgbClr val="0300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99550" y="204785"/>
            <a:ext cx="8344899" cy="6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99550" y="204785"/>
            <a:ext cx="8344899" cy="6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000" u="none" cap="none" strike="noStrike">
                <a:solidFill>
                  <a:srgbClr val="0B00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7613" y="1060087"/>
            <a:ext cx="8209280" cy="336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83517" y="4653653"/>
            <a:ext cx="708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B00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16.jpg"/><Relationship Id="rId6" Type="http://schemas.openxmlformats.org/officeDocument/2006/relationships/image" Target="../media/image4.jpg"/><Relationship Id="rId7" Type="http://schemas.openxmlformats.org/officeDocument/2006/relationships/image" Target="../media/image8.png"/><Relationship Id="rId8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Relationship Id="rId4" Type="http://schemas.openxmlformats.org/officeDocument/2006/relationships/image" Target="../media/image14.jp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6.jpg"/><Relationship Id="rId6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5.jpg"/><Relationship Id="rId5" Type="http://schemas.openxmlformats.org/officeDocument/2006/relationships/image" Target="../media/image18.jpg"/><Relationship Id="rId6" Type="http://schemas.openxmlformats.org/officeDocument/2006/relationships/image" Target="../media/image2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1E3E"/>
            </a:gs>
            <a:gs pos="100000">
              <a:srgbClr val="003F83"/>
            </a:gs>
          </a:gsLst>
          <a:lin ang="16200038" scaled="0"/>
        </a:gra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 title="Recurso 1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09600"/>
            <a:ext cx="1131802" cy="3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/>
        </p:nvSpPr>
        <p:spPr>
          <a:xfrm>
            <a:off x="609600" y="3446450"/>
            <a:ext cx="79248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at {{cliente_nombre}}</a:t>
            </a:r>
            <a:endParaRPr b="0" i="0" sz="4300" u="none" cap="none" strike="noStrike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4" name="Google Shape;54;p8"/>
          <p:cNvSpPr txBox="1"/>
          <p:nvPr/>
        </p:nvSpPr>
        <p:spPr>
          <a:xfrm>
            <a:off x="609600" y="4297500"/>
            <a:ext cx="79248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EAEBF3"/>
                </a:solidFill>
                <a:latin typeface="Inter Medium"/>
                <a:ea typeface="Inter Medium"/>
                <a:cs typeface="Inter Medium"/>
                <a:sym typeface="Inter Medium"/>
              </a:rPr>
              <a:t>Kick-off meeting {{fecha_kickoff}}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AEBF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5" name="Google Shape;55;p8" title="line-01-transparent.png"/>
          <p:cNvPicPr preferRelativeResize="0"/>
          <p:nvPr/>
        </p:nvPicPr>
        <p:blipFill rotWithShape="1">
          <a:blip r:embed="rId4">
            <a:alphaModFix/>
          </a:blip>
          <a:srcRect b="20937" l="9722" r="23686" t="-26891"/>
          <a:stretch/>
        </p:blipFill>
        <p:spPr>
          <a:xfrm>
            <a:off x="4572000" y="0"/>
            <a:ext cx="4572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609600" y="2714450"/>
            <a:ext cx="79248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Implementing Dost</a:t>
            </a:r>
            <a:endParaRPr b="0" i="0" sz="4300" u="none" cap="none" strike="noStrike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1" name="Google Shape;61;p9"/>
          <p:cNvSpPr txBox="1"/>
          <p:nvPr>
            <p:ph type="title"/>
          </p:nvPr>
        </p:nvSpPr>
        <p:spPr>
          <a:xfrm>
            <a:off x="399550" y="204785"/>
            <a:ext cx="83448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Contenido de la sesión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9"/>
          <p:cNvSpPr txBox="1"/>
          <p:nvPr/>
        </p:nvSpPr>
        <p:spPr>
          <a:xfrm>
            <a:off x="1593799" y="1240787"/>
            <a:ext cx="49722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90220" lvl="0" marL="5632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Presentación del equipo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2133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Contexto y necesidades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2133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Alcance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2514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Plan de trabajo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3149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Información necesaria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527685" lvl="0" marL="563245" marR="0" rtl="0" algn="l">
              <a:lnSpc>
                <a:spcPct val="100000"/>
              </a:lnSpc>
              <a:spcBef>
                <a:spcPts val="1980"/>
              </a:spcBef>
              <a:spcAft>
                <a:spcPts val="0"/>
              </a:spcAft>
              <a:buClr>
                <a:srgbClr val="001E3E"/>
              </a:buClr>
              <a:buSzPts val="2000"/>
              <a:buFont typeface="Inter"/>
              <a:buAutoNum type="arabicPlain"/>
            </a:pPr>
            <a:r>
              <a:rPr b="0" i="0" lang="en-US" sz="20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Próximos pasos</a:t>
            </a:r>
            <a:endParaRPr b="0" i="0" sz="20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400474" y="4621792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400474" y="1012766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1</a:t>
            </a:r>
            <a:endParaRPr/>
          </a:p>
        </p:txBody>
      </p:sp>
      <p:pic>
        <p:nvPicPr>
          <p:cNvPr id="66" name="Google Shape;66;p9" title="Recurso 2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1" name="Google Shape;71;p10"/>
          <p:cNvSpPr txBox="1"/>
          <p:nvPr>
            <p:ph type="title"/>
          </p:nvPr>
        </p:nvSpPr>
        <p:spPr>
          <a:xfrm>
            <a:off x="399550" y="204785"/>
            <a:ext cx="8344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1. Presentación del equipo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400474" y="4621792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160" y="988449"/>
            <a:ext cx="1344921" cy="50436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/>
          <p:nvPr/>
        </p:nvSpPr>
        <p:spPr>
          <a:xfrm>
            <a:off x="2050974" y="1243175"/>
            <a:ext cx="2309510" cy="3382061"/>
          </a:xfrm>
          <a:custGeom>
            <a:rect b="b" l="l" r="r" t="t"/>
            <a:pathLst>
              <a:path extrusionOk="0" h="3088640" w="1885314">
                <a:moveTo>
                  <a:pt x="0" y="0"/>
                </a:moveTo>
                <a:lnTo>
                  <a:pt x="1884899" y="0"/>
                </a:lnTo>
              </a:path>
              <a:path extrusionOk="0" h="3088640" w="1885314">
                <a:moveTo>
                  <a:pt x="1884899" y="3088199"/>
                </a:moveTo>
                <a:lnTo>
                  <a:pt x="1884899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4363800" y="1243175"/>
            <a:ext cx="4218392" cy="3382061"/>
          </a:xfrm>
          <a:custGeom>
            <a:rect b="b" l="l" r="r" t="t"/>
            <a:pathLst>
              <a:path extrusionOk="0" h="3088640" w="1885315">
                <a:moveTo>
                  <a:pt x="0" y="0"/>
                </a:moveTo>
                <a:lnTo>
                  <a:pt x="1884899" y="0"/>
                </a:lnTo>
              </a:path>
              <a:path extrusionOk="0" h="3088640" w="1885315">
                <a:moveTo>
                  <a:pt x="1884899" y="3088199"/>
                </a:moveTo>
                <a:lnTo>
                  <a:pt x="1884899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" name="Google Shape;77;p10" title="Recurso 2@4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726" y="4733838"/>
            <a:ext cx="558049" cy="16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0" title="20210907_170621.jpg"/>
          <p:cNvPicPr preferRelativeResize="0"/>
          <p:nvPr/>
        </p:nvPicPr>
        <p:blipFill rotWithShape="1">
          <a:blip r:embed="rId5">
            <a:alphaModFix/>
          </a:blip>
          <a:srcRect b="0" l="8127" r="7041" t="0"/>
          <a:stretch/>
        </p:blipFill>
        <p:spPr>
          <a:xfrm>
            <a:off x="539575" y="1692525"/>
            <a:ext cx="1077576" cy="1209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" name="Google Shape;79;p10" title="a62c8b21-0e69-46a9-b029-ad32e1bb5625.JPG"/>
          <p:cNvPicPr preferRelativeResize="0"/>
          <p:nvPr/>
        </p:nvPicPr>
        <p:blipFill rotWithShape="1">
          <a:blip r:embed="rId6">
            <a:alphaModFix/>
          </a:blip>
          <a:srcRect b="25167" l="0" r="0" t="0"/>
          <a:stretch/>
        </p:blipFill>
        <p:spPr>
          <a:xfrm>
            <a:off x="539575" y="3219575"/>
            <a:ext cx="1077576" cy="120951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" name="Google Shape;80;p10" title="image.png"/>
          <p:cNvPicPr preferRelativeResize="0"/>
          <p:nvPr/>
        </p:nvPicPr>
        <p:blipFill rotWithShape="1">
          <a:blip r:embed="rId7">
            <a:alphaModFix/>
          </a:blip>
          <a:srcRect b="0" l="5346" r="5560" t="0"/>
          <a:stretch/>
        </p:blipFill>
        <p:spPr>
          <a:xfrm>
            <a:off x="4698963" y="1692525"/>
            <a:ext cx="1077574" cy="12095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" name="Google Shape;81;p10" title="Ecosistema Tech-12.jpg"/>
          <p:cNvPicPr preferRelativeResize="0"/>
          <p:nvPr/>
        </p:nvPicPr>
        <p:blipFill rotWithShape="1">
          <a:blip r:embed="rId8">
            <a:alphaModFix/>
          </a:blip>
          <a:srcRect b="29858" l="29090" r="32288" t="4576"/>
          <a:stretch/>
        </p:blipFill>
        <p:spPr>
          <a:xfrm>
            <a:off x="4698950" y="3219575"/>
            <a:ext cx="1077576" cy="1209527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" name="Google Shape;82;p10"/>
          <p:cNvSpPr txBox="1"/>
          <p:nvPr/>
        </p:nvSpPr>
        <p:spPr>
          <a:xfrm>
            <a:off x="1797724" y="193252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{{persona_1_nombre}}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{{persona_1_rol}}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{{persona_1_bio_l1}}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{{persona_1_bio_l2}}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0"/>
          <p:cNvSpPr txBox="1"/>
          <p:nvPr/>
        </p:nvSpPr>
        <p:spPr>
          <a:xfrm>
            <a:off x="5957110" y="193252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{{persona_2_nombre}}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{{persona_2_rol}}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{{persona_2_bio_l1}}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{{persona_2_bio_l2}}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0"/>
          <p:cNvSpPr txBox="1"/>
          <p:nvPr/>
        </p:nvSpPr>
        <p:spPr>
          <a:xfrm>
            <a:off x="1797724" y="345957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{{persona_3_nombre}}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{{persona_3_rol}}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{{persona_3_bio_l1}}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{{persona_3_bio_l2}}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957099" y="345957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{{persona_4_nombre}}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{{persona_4_rol}}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{{persona_4_bio_l1}}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{{persona_4_bio_l2}}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idx="1" type="body"/>
          </p:nvPr>
        </p:nvSpPr>
        <p:spPr>
          <a:xfrm>
            <a:off x="543600" y="1280646"/>
            <a:ext cx="3650700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508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{{cliente_descripcion}}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País o países donde opera: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{{cliente_pais}}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Número aproximado de documentos anuales: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{{documentos_anuales}}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○"/>
            </a:pPr>
            <a:r>
              <a:rPr lang="en-US" sz="950">
                <a:latin typeface="Inter"/>
                <a:ea typeface="Inter"/>
                <a:cs typeface="Inter"/>
                <a:sym typeface="Inter"/>
              </a:rPr>
              <a:t>{{facturas_anuales}} 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ERP: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{{erp_nombre}}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Partner: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{{partner_implantador}}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Proveedores: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{{num_proveedores}}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$PPTXTitle" id="91" name="Google Shape;91;p11"/>
          <p:cNvSpPr txBox="1"/>
          <p:nvPr>
            <p:ph type="title"/>
          </p:nvPr>
        </p:nvSpPr>
        <p:spPr>
          <a:xfrm>
            <a:off x="399550" y="345475"/>
            <a:ext cx="29769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2. Contexto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4567677" y="4621800"/>
            <a:ext cx="3940175" cy="0"/>
          </a:xfrm>
          <a:custGeom>
            <a:rect b="b" l="l" r="r" t="t"/>
            <a:pathLst>
              <a:path extrusionOk="0" h="120000" w="3940175">
                <a:moveTo>
                  <a:pt x="0" y="0"/>
                </a:moveTo>
                <a:lnTo>
                  <a:pt x="3939899" y="0"/>
                </a:lnTo>
              </a:path>
            </a:pathLst>
          </a:custGeom>
          <a:noFill/>
          <a:ln cap="flat" cmpd="sng" w="190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11"/>
          <p:cNvGrpSpPr/>
          <p:nvPr/>
        </p:nvGrpSpPr>
        <p:grpSpPr>
          <a:xfrm>
            <a:off x="400474" y="0"/>
            <a:ext cx="8743525" cy="5143500"/>
            <a:chOff x="400474" y="0"/>
            <a:chExt cx="8743525" cy="5143500"/>
          </a:xfrm>
        </p:grpSpPr>
        <p:pic>
          <p:nvPicPr>
            <p:cNvPr id="94" name="Google Shape;94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1999" y="0"/>
              <a:ext cx="4572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1"/>
            <p:cNvSpPr/>
            <p:nvPr/>
          </p:nvSpPr>
          <p:spPr>
            <a:xfrm>
              <a:off x="4571999" y="0"/>
              <a:ext cx="4572000" cy="5143500"/>
            </a:xfrm>
            <a:custGeom>
              <a:rect b="b" l="l" r="r" t="t"/>
              <a:pathLst>
                <a:path extrusionOk="0" h="5143500" w="4572000">
                  <a:moveTo>
                    <a:pt x="0" y="0"/>
                  </a:moveTo>
                  <a:lnTo>
                    <a:pt x="4571999" y="0"/>
                  </a:lnTo>
                  <a:lnTo>
                    <a:pt x="45719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E3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400474" y="1012766"/>
              <a:ext cx="8183245" cy="3609340"/>
            </a:xfrm>
            <a:custGeom>
              <a:rect b="b" l="l" r="r" t="t"/>
              <a:pathLst>
                <a:path extrusionOk="0" h="3609340" w="8183245">
                  <a:moveTo>
                    <a:pt x="0" y="0"/>
                  </a:moveTo>
                  <a:lnTo>
                    <a:pt x="8182799" y="0"/>
                  </a:lnTo>
                </a:path>
                <a:path extrusionOk="0" h="3609340" w="8183245">
                  <a:moveTo>
                    <a:pt x="0" y="3609025"/>
                  </a:moveTo>
                  <a:lnTo>
                    <a:pt x="8182799" y="3609025"/>
                  </a:lnTo>
                </a:path>
              </a:pathLst>
            </a:custGeom>
            <a:noFill/>
            <a:ln cap="flat" cmpd="sng" w="19025">
              <a:solidFill>
                <a:srgbClr val="0B00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4567677" y="1012775"/>
              <a:ext cx="3940175" cy="0"/>
            </a:xfrm>
            <a:custGeom>
              <a:rect b="b" l="l" r="r" t="t"/>
              <a:pathLst>
                <a:path extrusionOk="0" h="120000" w="3940175">
                  <a:moveTo>
                    <a:pt x="0" y="0"/>
                  </a:moveTo>
                  <a:lnTo>
                    <a:pt x="3939899" y="0"/>
                  </a:lnTo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</a:rPr>
              <a:t>3</a:t>
            </a:r>
            <a:endParaRPr/>
          </a:p>
        </p:txBody>
      </p:sp>
      <p:pic>
        <p:nvPicPr>
          <p:cNvPr id="99" name="Google Shape;99;p11" title="Recurso 2@4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/>
        </p:nvSpPr>
        <p:spPr>
          <a:xfrm>
            <a:off x="4962375" y="1280646"/>
            <a:ext cx="34704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prioritarios del proyecto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{{objetivo_prioritario}}</a:t>
            </a:r>
            <a:endParaRPr b="1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{{objetivo_detalle_1}}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{{objetivo_detalle_2}}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{{objetivo_detalle_3}}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{{objetivo_detalle_4}}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1"/>
          <p:cNvSpPr txBox="1"/>
          <p:nvPr/>
        </p:nvSpPr>
        <p:spPr>
          <a:xfrm>
            <a:off x="4835025" y="345475"/>
            <a:ext cx="3933825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Necesidades</a:t>
            </a:r>
            <a:endParaRPr b="0" i="0" sz="3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idx="1" type="body"/>
          </p:nvPr>
        </p:nvSpPr>
        <p:spPr>
          <a:xfrm>
            <a:off x="557750" y="1308946"/>
            <a:ext cx="36507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Caso de Uso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{{alcance_bullet_1_label}}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{{alcance_bullet_1_resto}}</a:t>
            </a:r>
            <a:endParaRPr b="0"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{{alcance_bullet_2_label}}</a:t>
            </a:r>
            <a:r>
              <a:rPr b="0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{{alcance_bullet_2_resto}}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{{alcance_bullet_3_label}}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{{alcance_bullet_3_resto}}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{{alcance_bullet_4_label}}</a:t>
            </a:r>
            <a:r>
              <a:rPr b="0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{{alcance_bullet_4_resto}}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7" name="Google Shape;107;p12"/>
          <p:cNvGrpSpPr/>
          <p:nvPr/>
        </p:nvGrpSpPr>
        <p:grpSpPr>
          <a:xfrm>
            <a:off x="400474" y="0"/>
            <a:ext cx="8743525" cy="5143500"/>
            <a:chOff x="400474" y="0"/>
            <a:chExt cx="8743525" cy="5143500"/>
          </a:xfrm>
        </p:grpSpPr>
        <p:pic>
          <p:nvPicPr>
            <p:cNvPr id="108" name="Google Shape;10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1999" y="0"/>
              <a:ext cx="4572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2"/>
            <p:cNvSpPr/>
            <p:nvPr/>
          </p:nvSpPr>
          <p:spPr>
            <a:xfrm>
              <a:off x="4571999" y="0"/>
              <a:ext cx="4572000" cy="5143500"/>
            </a:xfrm>
            <a:custGeom>
              <a:rect b="b" l="l" r="r" t="t"/>
              <a:pathLst>
                <a:path extrusionOk="0" h="5143500" w="4572000">
                  <a:moveTo>
                    <a:pt x="0" y="0"/>
                  </a:moveTo>
                  <a:lnTo>
                    <a:pt x="4571999" y="0"/>
                  </a:lnTo>
                  <a:lnTo>
                    <a:pt x="45719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E3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400474" y="1012766"/>
              <a:ext cx="8183245" cy="3609340"/>
            </a:xfrm>
            <a:custGeom>
              <a:rect b="b" l="l" r="r" t="t"/>
              <a:pathLst>
                <a:path extrusionOk="0" h="3609340" w="8183245">
                  <a:moveTo>
                    <a:pt x="0" y="0"/>
                  </a:moveTo>
                  <a:lnTo>
                    <a:pt x="8182799" y="0"/>
                  </a:lnTo>
                </a:path>
                <a:path extrusionOk="0" h="3609340" w="8183245">
                  <a:moveTo>
                    <a:pt x="0" y="3609025"/>
                  </a:moveTo>
                  <a:lnTo>
                    <a:pt x="8182799" y="3609025"/>
                  </a:lnTo>
                </a:path>
              </a:pathLst>
            </a:custGeom>
            <a:noFill/>
            <a:ln cap="flat" cmpd="sng" w="19025">
              <a:solidFill>
                <a:srgbClr val="0B00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4567677" y="1012775"/>
              <a:ext cx="3940175" cy="0"/>
            </a:xfrm>
            <a:custGeom>
              <a:rect b="b" l="l" r="r" t="t"/>
              <a:pathLst>
                <a:path extrusionOk="0" h="120000" w="3940175">
                  <a:moveTo>
                    <a:pt x="0" y="0"/>
                  </a:moveTo>
                  <a:lnTo>
                    <a:pt x="3939899" y="0"/>
                  </a:lnTo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112" name="Google Shape;112;p12"/>
          <p:cNvSpPr txBox="1"/>
          <p:nvPr>
            <p:ph type="title"/>
          </p:nvPr>
        </p:nvSpPr>
        <p:spPr>
          <a:xfrm>
            <a:off x="399550" y="345475"/>
            <a:ext cx="29769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. Alcance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4567677" y="4621800"/>
            <a:ext cx="3940175" cy="0"/>
          </a:xfrm>
          <a:custGeom>
            <a:rect b="b" l="l" r="r" t="t"/>
            <a:pathLst>
              <a:path extrusionOk="0" h="120000" w="3940175">
                <a:moveTo>
                  <a:pt x="0" y="0"/>
                </a:moveTo>
                <a:lnTo>
                  <a:pt x="3939899" y="0"/>
                </a:lnTo>
              </a:path>
            </a:pathLst>
          </a:custGeom>
          <a:noFill/>
          <a:ln cap="flat" cmpd="sng" w="190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</a:rPr>
              <a:t>4</a:t>
            </a:r>
            <a:endParaRPr/>
          </a:p>
        </p:txBody>
      </p:sp>
      <p:pic>
        <p:nvPicPr>
          <p:cNvPr id="115" name="Google Shape;115;p12" title="Recurso 2@4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 txBox="1"/>
          <p:nvPr/>
        </p:nvSpPr>
        <p:spPr>
          <a:xfrm>
            <a:off x="4835025" y="2595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Compromiso</a:t>
            </a:r>
            <a:endParaRPr b="0" i="0" sz="3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4962375" y="1308946"/>
            <a:ext cx="3470400" cy="30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Compromiso {{cliente_nombre}} &amp; Dost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Dost es un SaaS, no una consultora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Dost construye a partir de la información compartida 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Cambios y parametrizaciones fuera del documento funcional / Onboarding → Premium Care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Agilidad: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Cumplimiento fechas acordadas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Respuestas a solicitudes (correos, llamadas)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Compartir documentación 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○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Realización de pruebas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Disponibilidad equipo (cierres / vacaciones)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/>
          <p:nvPr/>
        </p:nvSpPr>
        <p:spPr>
          <a:xfrm>
            <a:off x="4180000" y="880000"/>
            <a:ext cx="8000" cy="360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4761250" y="880000"/>
            <a:ext cx="8000" cy="360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5342500" y="880000"/>
            <a:ext cx="8000" cy="360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5923750" y="880000"/>
            <a:ext cx="8000" cy="360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6505000" y="880000"/>
            <a:ext cx="8000" cy="360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7086250" y="880000"/>
            <a:ext cx="8000" cy="360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7667500" y="880000"/>
            <a:ext cx="8000" cy="360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8248750" y="880000"/>
            <a:ext cx="8000" cy="360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8830000" y="880000"/>
            <a:ext cx="8000" cy="360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31" name="Google Shape;131;p13"/>
          <p:cNvSpPr txBox="1"/>
          <p:nvPr>
            <p:ph type="title"/>
          </p:nvPr>
        </p:nvSpPr>
        <p:spPr>
          <a:xfrm>
            <a:off x="399550" y="120000"/>
            <a:ext cx="8000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4. Plan de trabajo estimado 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3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1590700" y="4786400"/>
            <a:ext cx="59316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Todo lo 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esté mencionado en el alcance/plan de trabajo anterior, no formará parte del proyecto de onboarding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3" title="Recurso 2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76" y="4765900"/>
            <a:ext cx="558049" cy="1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280000" y="88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Fase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480000" y="88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418000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476125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S2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534250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592375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S4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650500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S5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708625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S6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766750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S7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8248750" y="880000"/>
            <a:ext cx="58125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S8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280000" y="1160000"/>
            <a:ext cx="8550000" cy="8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280000" y="1190000"/>
            <a:ext cx="1200000" cy="112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Análisis funcional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1480000" y="119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Reunión de kick off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4276875" y="1300000"/>
            <a:ext cx="38750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1480000" y="147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Diseño de los requisitos de extracción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4276875" y="158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1480000" y="175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Aportación de información necesaria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4276875" y="186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1480000" y="203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Desarrollo y firma del documento funcional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4858125" y="214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726875" y="2070000"/>
            <a:ext cx="200000" cy="200000"/>
          </a:xfrm>
          <a:prstGeom prst="diamond">
            <a:avLst/>
          </a:prstGeom>
          <a:solidFill>
            <a:srgbClr val="B0B0B0"/>
          </a:solidFill>
          <a:ln cap="flat" cmpd="sng" w="9525">
            <a:solidFill>
              <a:srgbClr val="70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280000" y="2360000"/>
            <a:ext cx="8550000" cy="4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280000" y="2390000"/>
            <a:ext cx="1200000" cy="84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Configuración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entrenamiento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proveedores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1480000" y="239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Creación del entorno Dost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4858125" y="250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1480000" y="267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Desarrollo conexión {{gantt_erp_conector}}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5439375" y="2780000"/>
            <a:ext cx="270000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1480000" y="295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Entrenamiento de proveedores ({{gantt_num_proveedores}})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5439375" y="3060000"/>
            <a:ext cx="21312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7470625" y="2990000"/>
            <a:ext cx="200000" cy="200000"/>
          </a:xfrm>
          <a:prstGeom prst="diamond">
            <a:avLst/>
          </a:prstGeom>
          <a:solidFill>
            <a:srgbClr val="B0B0B0"/>
          </a:solidFill>
          <a:ln cap="flat" cmpd="sng" w="9525">
            <a:solidFill>
              <a:srgbClr val="70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280000" y="3280000"/>
            <a:ext cx="8550000" cy="4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280000" y="3310000"/>
            <a:ext cx="1200000" cy="84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Formación,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Pruebas y puesta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1480000" y="331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Formación en el uso de la plataforma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6020625" y="3420000"/>
            <a:ext cx="155000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1480000" y="359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Pruebas de extracción y conciliación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6601875" y="3700000"/>
            <a:ext cx="155000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1480000" y="387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Puesta en producción y traspaso a Soporte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7764375" y="3980000"/>
            <a:ext cx="9687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8633125" y="3910000"/>
            <a:ext cx="200000" cy="200000"/>
          </a:xfrm>
          <a:prstGeom prst="diamond">
            <a:avLst/>
          </a:prstGeom>
          <a:solidFill>
            <a:srgbClr val="B0B0B0"/>
          </a:solidFill>
          <a:ln cap="flat" cmpd="sng" w="9525">
            <a:solidFill>
              <a:srgbClr val="70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280000" y="4200000"/>
            <a:ext cx="8550000" cy="4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280000" y="4230000"/>
            <a:ext cx="1200000" cy="28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1480000" y="4230000"/>
            <a:ext cx="27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●  Reuniones semanales de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4276875" y="4340000"/>
            <a:ext cx="4456250" cy="60000"/>
          </a:xfrm>
          <a:prstGeom prst="rect">
            <a:avLst/>
          </a:prstGeom>
          <a:solidFill>
            <a:srgbClr val="001E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7730000" y="630000"/>
            <a:ext cx="180000" cy="180000"/>
          </a:xfrm>
          <a:prstGeom prst="diamond">
            <a:avLst/>
          </a:prstGeom>
          <a:solidFill>
            <a:srgbClr val="B0B0B0"/>
          </a:solidFill>
          <a:ln cap="flat" cmpd="sng" w="9525">
            <a:solidFill>
              <a:srgbClr val="70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7970000" y="630000"/>
            <a:ext cx="8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Hito clave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84" name="Google Shape;184;p14"/>
          <p:cNvSpPr txBox="1"/>
          <p:nvPr>
            <p:ph type="title"/>
          </p:nvPr>
        </p:nvSpPr>
        <p:spPr>
          <a:xfrm>
            <a:off x="399550" y="204785"/>
            <a:ext cx="8344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5. Información necesaria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00474" y="4621792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400474" y="1012766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473600" y="1177329"/>
            <a:ext cx="7446600" cy="3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sng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Envío en los próximos días</a:t>
            </a:r>
            <a:r>
              <a:rPr b="1" i="0" lang="en-US" sz="15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5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{{info_envio_1}}</a:t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5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{{info_envio_2}}</a:t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5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{{info_envio_3}}</a:t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5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{{info_envio_4}}</a:t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5080" rtl="0" algn="l">
              <a:lnSpc>
                <a:spcPct val="21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sng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A decidir durante las reuniones de diseño funcional</a:t>
            </a:r>
            <a:r>
              <a:rPr b="1" i="0" lang="en-US" sz="15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5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{{info_decidir_1}}</a:t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3535" lvl="0" marL="469265" marR="0" rtl="0" algn="l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>
                <a:srgbClr val="001E3E"/>
              </a:buClr>
              <a:buSzPts val="1500"/>
              <a:buFont typeface="Inter"/>
              <a:buChar char="●"/>
            </a:pPr>
            <a:r>
              <a:rPr b="0" i="0" lang="en-US" sz="15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{{info_decidir_2}}</a:t>
            </a:r>
            <a:endParaRPr b="0" i="0" sz="15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14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6</a:t>
            </a:r>
            <a:endParaRPr/>
          </a:p>
        </p:txBody>
      </p:sp>
      <p:pic>
        <p:nvPicPr>
          <p:cNvPr id="189" name="Google Shape;189;p14" title="Recurso 2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4" name="Google Shape;194;p15"/>
          <p:cNvSpPr txBox="1"/>
          <p:nvPr>
            <p:ph type="title"/>
          </p:nvPr>
        </p:nvSpPr>
        <p:spPr>
          <a:xfrm>
            <a:off x="399550" y="204785"/>
            <a:ext cx="8344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6. Próximos pasos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400474" y="4621792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400474" y="1012766"/>
            <a:ext cx="8183245" cy="0"/>
          </a:xfrm>
          <a:custGeom>
            <a:rect b="b" l="l" r="r" t="t"/>
            <a:pathLst>
              <a:path extrusionOk="0" h="120000" w="8183245">
                <a:moveTo>
                  <a:pt x="0" y="0"/>
                </a:moveTo>
                <a:lnTo>
                  <a:pt x="8182799" y="0"/>
                </a:lnTo>
              </a:path>
            </a:pathLst>
          </a:custGeom>
          <a:noFill/>
          <a:ln cap="flat" cmpd="sng" w="19025">
            <a:solidFill>
              <a:srgbClr val="0B0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517690" y="1809600"/>
            <a:ext cx="74949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700"/>
              <a:buFont typeface="Inter"/>
              <a:buAutoNum type="arabicPeriod"/>
            </a:pPr>
            <a:r>
              <a:rPr b="1" i="0" lang="en-US" sz="17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Fijar reuniones de seguimiento semanal y personas involucradas</a:t>
            </a:r>
            <a:endParaRPr b="0" i="0" sz="17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B004F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41592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700"/>
              <a:buFont typeface="Inter"/>
              <a:buAutoNum type="arabicPeriod"/>
            </a:pPr>
            <a:r>
              <a:rPr b="1" i="0" lang="en-US" sz="17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Fijar primeras reuniones funcionales esta semana</a:t>
            </a:r>
            <a:endParaRPr b="0" i="0" sz="17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B004F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41592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700"/>
              <a:buFont typeface="Inter"/>
              <a:buAutoNum type="arabicPeriod"/>
            </a:pPr>
            <a:r>
              <a:rPr b="1" i="0" lang="en-US" sz="17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{{proximo_paso_caso_uso}}</a:t>
            </a:r>
            <a:endParaRPr b="0" i="0" sz="17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41592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1E3E"/>
              </a:buClr>
              <a:buSzPts val="1700"/>
              <a:buFont typeface="Inter"/>
              <a:buAutoNum type="arabicPeriod"/>
            </a:pPr>
            <a:r>
              <a:rPr b="1" i="0" lang="en-US" sz="1700" u="none" cap="none" strike="noStrike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{{proximo_paso_caso_uso_2}}</a:t>
            </a:r>
            <a:endParaRPr b="0" i="0" sz="1700" u="none" cap="none" strike="noStrike"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15"/>
          <p:cNvSpPr txBox="1"/>
          <p:nvPr>
            <p:ph idx="12" type="sldNum"/>
          </p:nvPr>
        </p:nvSpPr>
        <p:spPr>
          <a:xfrm>
            <a:off x="8321300" y="4773220"/>
            <a:ext cx="1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7</a:t>
            </a:r>
            <a:endParaRPr/>
          </a:p>
        </p:txBody>
      </p:sp>
      <p:pic>
        <p:nvPicPr>
          <p:cNvPr id="199" name="Google Shape;199;p15" title="Recurso 2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51" y="4773225"/>
            <a:ext cx="558049" cy="1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8223C"/>
            </a:gs>
            <a:gs pos="100000">
              <a:srgbClr val="003F83"/>
            </a:gs>
          </a:gsLst>
          <a:lin ang="16200038" scaled="0"/>
        </a:gra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6" title="Recurso 2@2x.png"/>
          <p:cNvPicPr preferRelativeResize="0"/>
          <p:nvPr/>
        </p:nvPicPr>
        <p:blipFill rotWithShape="1">
          <a:blip r:embed="rId3">
            <a:alphaModFix/>
          </a:blip>
          <a:srcRect b="-9756" l="-9374" r="6473" t="51825"/>
          <a:stretch/>
        </p:blipFill>
        <p:spPr>
          <a:xfrm>
            <a:off x="15875" y="0"/>
            <a:ext cx="9128125" cy="512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6" title="Recurso 1@2x.png"/>
          <p:cNvPicPr preferRelativeResize="0"/>
          <p:nvPr/>
        </p:nvPicPr>
        <p:blipFill rotWithShape="1">
          <a:blip r:embed="rId4">
            <a:alphaModFix/>
          </a:blip>
          <a:srcRect b="-3155" l="12279" r="-6299" t="50225"/>
          <a:stretch/>
        </p:blipFill>
        <p:spPr>
          <a:xfrm>
            <a:off x="0" y="0"/>
            <a:ext cx="9128125" cy="512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6" title="Recurso 1@4x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3750" y="1887450"/>
            <a:ext cx="3466573" cy="100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/>
        </p:nvSpPr>
        <p:spPr>
          <a:xfrm>
            <a:off x="399550" y="204775"/>
            <a:ext cx="8000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1D3F"/>
                </a:solidFill>
                <a:latin typeface="Inter"/>
                <a:ea typeface="Inter"/>
                <a:cs typeface="Inter"/>
                <a:sym typeface="Inter"/>
              </a:rPr>
              <a:t>🔒 Banco — Equipo Dost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399550" y="700000"/>
            <a:ext cx="80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BANCO OCULTO — copia el bloque de la persona que aplica y pégalo en el slide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190500" y="4905375"/>
            <a:ext cx="876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Slide oculto. No se muestra en presentación. Para PowerPoint: clic derecho sobre el slide en el panel lateral → 'Mostrar diapositiva' para activarlo si necesitas verlo.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17"/>
          <p:cNvPicPr preferRelativeResize="0"/>
          <p:nvPr/>
        </p:nvPicPr>
        <p:blipFill rotWithShape="1">
          <a:blip r:embed="rId3">
            <a:alphaModFix/>
          </a:blip>
          <a:srcRect b="0" l="4279" r="4288" t="0"/>
          <a:stretch/>
        </p:blipFill>
        <p:spPr>
          <a:xfrm>
            <a:off x="399550" y="1086525"/>
            <a:ext cx="1077574" cy="1178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5" name="Google Shape;215;p17"/>
          <p:cNvPicPr preferRelativeResize="0"/>
          <p:nvPr/>
        </p:nvPicPr>
        <p:blipFill rotWithShape="1">
          <a:blip r:embed="rId4">
            <a:alphaModFix/>
          </a:blip>
          <a:srcRect b="0" l="3315" r="3306" t="0"/>
          <a:stretch/>
        </p:blipFill>
        <p:spPr>
          <a:xfrm>
            <a:off x="4291700" y="1086525"/>
            <a:ext cx="1077574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aula_fochs.png" id="216" name="Google Shape;21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550" y="2908188"/>
            <a:ext cx="1077575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viviana_malacria.png" id="217" name="Google Shape;21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1700" y="2908188"/>
            <a:ext cx="1077575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8" name="Google Shape;218;p17"/>
          <p:cNvSpPr txBox="1"/>
          <p:nvPr/>
        </p:nvSpPr>
        <p:spPr>
          <a:xfrm>
            <a:off x="1657698" y="132652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Carlos Gómez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Onboarding Leader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5549848" y="132652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Alejandra Barrena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Onboarding Leader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1657698" y="3148188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Paula Fochs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Onboarding Leader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5549848" y="3148188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Viviana Malacria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Onboarding Leader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/>
        </p:nvSpPr>
        <p:spPr>
          <a:xfrm>
            <a:off x="399550" y="204775"/>
            <a:ext cx="8000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1D3F"/>
                </a:solidFill>
                <a:latin typeface="Inter"/>
                <a:ea typeface="Inter"/>
                <a:cs typeface="Inter"/>
                <a:sym typeface="Inter"/>
              </a:rPr>
              <a:t>🔒 Banco — Equipo Dost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90500" y="4905375"/>
            <a:ext cx="876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Slide oculto. No se muestra en presentación. Para PowerPoint: clic derecho sobre el slide en el panel lateral → 'Mostrar diapositiva' para activarlo si necesitas verlo.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ernando_martin.png" id="228" name="Google Shape;2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50" y="1086525"/>
            <a:ext cx="1077575" cy="1161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9" name="Google Shape;229;p18" title="image.png"/>
          <p:cNvPicPr preferRelativeResize="0"/>
          <p:nvPr/>
        </p:nvPicPr>
        <p:blipFill rotWithShape="1">
          <a:blip r:embed="rId4">
            <a:alphaModFix/>
          </a:blip>
          <a:srcRect b="0" l="5346" r="5560" t="0"/>
          <a:stretch/>
        </p:blipFill>
        <p:spPr>
          <a:xfrm>
            <a:off x="399550" y="2908188"/>
            <a:ext cx="1077574" cy="1135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18" title="20210907_170621.jpg"/>
          <p:cNvPicPr preferRelativeResize="0"/>
          <p:nvPr/>
        </p:nvPicPr>
        <p:blipFill rotWithShape="1">
          <a:blip r:embed="rId5">
            <a:alphaModFix/>
          </a:blip>
          <a:srcRect b="0" l="8127" r="7041" t="0"/>
          <a:stretch/>
        </p:blipFill>
        <p:spPr>
          <a:xfrm>
            <a:off x="4291700" y="1086525"/>
            <a:ext cx="1077576" cy="1209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1" name="Google Shape;231;p18" title="a62c8b21-0e69-46a9-b029-ad32e1bb5625.JPG"/>
          <p:cNvPicPr preferRelativeResize="0"/>
          <p:nvPr/>
        </p:nvPicPr>
        <p:blipFill rotWithShape="1">
          <a:blip r:embed="rId6">
            <a:alphaModFix/>
          </a:blip>
          <a:srcRect b="25167" l="0" r="0" t="0"/>
          <a:stretch/>
        </p:blipFill>
        <p:spPr>
          <a:xfrm>
            <a:off x="4291700" y="2908188"/>
            <a:ext cx="1077576" cy="120951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18"/>
          <p:cNvSpPr txBox="1"/>
          <p:nvPr/>
        </p:nvSpPr>
        <p:spPr>
          <a:xfrm>
            <a:off x="1657698" y="132652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Fernando Martín</a:t>
            </a:r>
            <a:endParaRPr sz="1200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CO-Founder</a:t>
            </a:r>
            <a:endParaRPr sz="900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5549849" y="132652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Ignacio Gassó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Head of Customer Success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+8 años en Fintech B2B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+6 años en SaaS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1657697" y="3148188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Marcia Bardauil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Product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Payments, Bank and Global e-invoicing expert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5549849" y="3148188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Alexandra Colina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Technical Consultant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ERP &amp; API expert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/>
        </p:nvSpPr>
        <p:spPr>
          <a:xfrm>
            <a:off x="399550" y="204775"/>
            <a:ext cx="8000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1D3F"/>
                </a:solidFill>
                <a:latin typeface="Inter"/>
                <a:ea typeface="Inter"/>
                <a:cs typeface="Inter"/>
                <a:sym typeface="Inter"/>
              </a:rPr>
              <a:t>🔒 Banco — Account Executives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399550" y="7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BANCO OCULTO — copia el bloque de la persona que aplica y pégalo en el slide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190500" y="4700000"/>
            <a:ext cx="876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499A3"/>
                </a:solidFill>
                <a:latin typeface="Inter"/>
                <a:ea typeface="Inter"/>
                <a:cs typeface="Inter"/>
                <a:sym typeface="Inter"/>
              </a:rPr>
              <a:t>Slide oculto. No se muestra en presentación. Para PowerPoint: clic derecho sobre el slide en el panel lateral → 'Mostrar diapositiva' para activarlo si necesitas verlo.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drian_tse.png"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50" y="1020625"/>
            <a:ext cx="1077575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4" name="Google Shape;244;p19"/>
          <p:cNvPicPr preferRelativeResize="0"/>
          <p:nvPr/>
        </p:nvPicPr>
        <p:blipFill rotWithShape="1">
          <a:blip r:embed="rId4">
            <a:alphaModFix/>
          </a:blip>
          <a:srcRect b="0" l="3315" r="3315" t="0"/>
          <a:stretch/>
        </p:blipFill>
        <p:spPr>
          <a:xfrm>
            <a:off x="4291700" y="1020625"/>
            <a:ext cx="1077550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5" name="Google Shape;245;p19"/>
          <p:cNvPicPr preferRelativeResize="0"/>
          <p:nvPr/>
        </p:nvPicPr>
        <p:blipFill rotWithShape="1">
          <a:blip r:embed="rId5">
            <a:alphaModFix/>
          </a:blip>
          <a:srcRect b="0" l="3315" r="3315" t="0"/>
          <a:stretch/>
        </p:blipFill>
        <p:spPr>
          <a:xfrm>
            <a:off x="399550" y="2962250"/>
            <a:ext cx="1077551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19"/>
          <p:cNvPicPr preferRelativeResize="0"/>
          <p:nvPr/>
        </p:nvPicPr>
        <p:blipFill rotWithShape="1">
          <a:blip r:embed="rId6">
            <a:alphaModFix/>
          </a:blip>
          <a:srcRect b="0" l="4128" r="4128" t="0"/>
          <a:stretch/>
        </p:blipFill>
        <p:spPr>
          <a:xfrm>
            <a:off x="4301088" y="2962250"/>
            <a:ext cx="1058775" cy="115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p19"/>
          <p:cNvSpPr txBox="1"/>
          <p:nvPr/>
        </p:nvSpPr>
        <p:spPr>
          <a:xfrm>
            <a:off x="1657698" y="1260625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Adrián Tse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Account Executive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5549823" y="1260625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Dani Menendez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Account Executive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1657674" y="3202250"/>
            <a:ext cx="260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Diego Rengel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Account Executive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5540436" y="3202250"/>
            <a:ext cx="295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Miki Arrufat</a:t>
            </a:r>
            <a:endParaRPr b="0" i="0" sz="12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B004F"/>
                </a:solidFill>
                <a:latin typeface="Inter"/>
                <a:ea typeface="Inter"/>
                <a:cs typeface="Inter"/>
                <a:sym typeface="Inter"/>
              </a:rPr>
              <a:t>Account Executive</a:t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B004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idx="1" type="body"/>
          </p:nvPr>
        </p:nvSpPr>
        <p:spPr>
          <a:xfrm>
            <a:off x="543600" y="1280646"/>
            <a:ext cx="3650700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Discrepancias detectadas: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508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ELIMINAR este slide antes de presentar al cliente. Solo para uso interno del CSM.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Discrepancia 1: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{{discrepancia_1}}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Discrepancia 2: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{{discrepancia_2}}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○"/>
            </a:pPr>
            <a:r>
              <a:rPr lang="en-US" sz="950">
                <a:latin typeface="Inter"/>
                <a:ea typeface="Inter"/>
                <a:cs typeface="Inter"/>
                <a:sym typeface="Inter"/>
              </a:rPr>
              <a:t>{{discrepancia_3_opcional}} 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Pendiente 1: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{{pendiente_1}}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Pendiente 2: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{{pendiente_2}}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b="1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Pendiente 3:</a:t>
            </a:r>
            <a:r>
              <a:rPr b="0" lang="en-US" sz="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{{pendiente_3}}</a:t>
            </a:r>
            <a:endParaRPr b="0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$PPTXTitle" id="256" name="Google Shape;256;p20"/>
          <p:cNvSpPr txBox="1"/>
          <p:nvPr>
            <p:ph type="title"/>
          </p:nvPr>
        </p:nvSpPr>
        <p:spPr>
          <a:xfrm>
            <a:off x="399550" y="345475"/>
            <a:ext cx="4000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1E3E"/>
                </a:solidFill>
                <a:latin typeface="Inter"/>
                <a:ea typeface="Inter"/>
                <a:cs typeface="Inter"/>
                <a:sym typeface="Inter"/>
              </a:rPr>
              <a:t>⚠️ PRE-KICKOFF</a:t>
            </a:r>
            <a:endParaRPr>
              <a:solidFill>
                <a:srgbClr val="001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567677" y="4621800"/>
            <a:ext cx="3940175" cy="0"/>
          </a:xfrm>
          <a:custGeom>
            <a:rect b="b" l="l" r="r" t="t"/>
            <a:pathLst>
              <a:path extrusionOk="0" h="120000" w="3940175">
                <a:moveTo>
                  <a:pt x="0" y="0"/>
                </a:moveTo>
                <a:lnTo>
                  <a:pt x="3939899" y="0"/>
                </a:lnTo>
              </a:path>
            </a:pathLst>
          </a:custGeom>
          <a:noFill/>
          <a:ln cap="flat" cmpd="sng" w="190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" name="Google Shape;258;p20"/>
          <p:cNvGrpSpPr/>
          <p:nvPr/>
        </p:nvGrpSpPr>
        <p:grpSpPr>
          <a:xfrm>
            <a:off x="400474" y="0"/>
            <a:ext cx="8743525" cy="5143500"/>
            <a:chOff x="400474" y="0"/>
            <a:chExt cx="8743525" cy="5143500"/>
          </a:xfrm>
        </p:grpSpPr>
        <p:pic>
          <p:nvPicPr>
            <p:cNvPr id="259" name="Google Shape;25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1999" y="0"/>
              <a:ext cx="4572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0"/>
            <p:cNvSpPr/>
            <p:nvPr/>
          </p:nvSpPr>
          <p:spPr>
            <a:xfrm>
              <a:off x="4571999" y="0"/>
              <a:ext cx="4572000" cy="5143500"/>
            </a:xfrm>
            <a:custGeom>
              <a:rect b="b" l="l" r="r" t="t"/>
              <a:pathLst>
                <a:path extrusionOk="0" h="5143500" w="4572000">
                  <a:moveTo>
                    <a:pt x="0" y="0"/>
                  </a:moveTo>
                  <a:lnTo>
                    <a:pt x="4571999" y="0"/>
                  </a:lnTo>
                  <a:lnTo>
                    <a:pt x="45719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E3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400474" y="1012766"/>
              <a:ext cx="8183245" cy="3609340"/>
            </a:xfrm>
            <a:custGeom>
              <a:rect b="b" l="l" r="r" t="t"/>
              <a:pathLst>
                <a:path extrusionOk="0" h="3609340" w="8183245">
                  <a:moveTo>
                    <a:pt x="0" y="0"/>
                  </a:moveTo>
                  <a:lnTo>
                    <a:pt x="8182799" y="0"/>
                  </a:lnTo>
                </a:path>
                <a:path extrusionOk="0" h="3609340" w="8183245">
                  <a:moveTo>
                    <a:pt x="0" y="3609025"/>
                  </a:moveTo>
                  <a:lnTo>
                    <a:pt x="8182799" y="3609025"/>
                  </a:lnTo>
                </a:path>
              </a:pathLst>
            </a:custGeom>
            <a:noFill/>
            <a:ln cap="flat" cmpd="sng" w="19025">
              <a:solidFill>
                <a:srgbClr val="0B00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4567677" y="1012775"/>
              <a:ext cx="3940175" cy="0"/>
            </a:xfrm>
            <a:custGeom>
              <a:rect b="b" l="l" r="r" t="t"/>
              <a:pathLst>
                <a:path extrusionOk="0" h="120000" w="3940175">
                  <a:moveTo>
                    <a:pt x="0" y="0"/>
                  </a:moveTo>
                  <a:lnTo>
                    <a:pt x="3939899" y="0"/>
                  </a:lnTo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20"/>
          <p:cNvSpPr txBox="1"/>
          <p:nvPr>
            <p:ph idx="12" type="sldNum"/>
          </p:nvPr>
        </p:nvSpPr>
        <p:spPr>
          <a:xfrm>
            <a:off x="8321300" y="4773220"/>
            <a:ext cx="16700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</a:rPr>
              <a:t>3</a:t>
            </a:r>
            <a:endParaRPr/>
          </a:p>
        </p:txBody>
      </p:sp>
      <p:pic>
        <p:nvPicPr>
          <p:cNvPr id="264" name="Google Shape;264;p20" title="Recurso 2@4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476" y="4782963"/>
            <a:ext cx="558049" cy="1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4962375" y="1280646"/>
            <a:ext cx="34704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Sensibilidad política: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Riesgos &amp; condiciones especiales:</a:t>
            </a:r>
            <a:endParaRPr b="1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{{stakeholder_champion}}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{{stakeholder_detractor}}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{{filosofia_cliente}}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{{riesgo_o_condicion_especial}}</a:t>
            </a:r>
            <a:endParaRPr b="0" i="0" sz="1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4835025" y="345475"/>
            <a:ext cx="3933825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Crítico para el CSM</a:t>
            </a:r>
            <a:endParaRPr b="0" i="0" sz="3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
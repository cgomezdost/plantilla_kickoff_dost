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27"/>
  </p:sldIdLst>
  <p:sldSz cy="5143500" cx="9144000"/>
  <p:notesSz cx="9144000" cy="5143500"/>
  <p:embeddedFontLst>
    <p:embeddedFont>
      <p:font typeface="Inter"/>
      <p:regular r:id="rId19"/>
      <p:bold r:id="rId20"/>
      <p:italic r:id="rId21"/>
      <p:boldItalic r:id="rId22"/>
    </p:embeddedFont>
    <p:embeddedFont>
      <p:font typeface="Inter Medium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"1.0" encoding="UTF-8"?><Relationships xmlns="http://schemas.openxmlformats.org/package/2006/relationships"><Relationship Id="rId20" Type="http://schemas.openxmlformats.org/officeDocument/2006/relationships/font" Target="fonts/Inter-bold.fntdata"/><Relationship Id="rId22" Type="http://schemas.openxmlformats.org/officeDocument/2006/relationships/font" Target="fonts/Inter-boldItalic.fntdata"/><Relationship Id="rId21" Type="http://schemas.openxmlformats.org/officeDocument/2006/relationships/font" Target="fonts/Inter-italic.fntdata"/><Relationship Id="rId24" Type="http://schemas.openxmlformats.org/officeDocument/2006/relationships/font" Target="fonts/InterMedium-bold.fntdata"/><Relationship Id="rId23" Type="http://schemas.openxmlformats.org/officeDocument/2006/relationships/font" Target="fonts/InterMedium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terMedium-boldItalic.fntdata"/><Relationship Id="rId25" Type="http://schemas.openxmlformats.org/officeDocument/2006/relationships/font" Target="fonts/InterMedium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font" Target="fonts/Inter-regular.fntdata"/><Relationship Id="rId18" Type="http://schemas.openxmlformats.org/officeDocument/2006/relationships/slide" Target="slides/slide13.xml"/><Relationship Id="rId27" Type="http://schemas.openxmlformats.org/officeDocument/2006/relationships/slide" Target="slides/slide14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:notes"/>
          <p:cNvSpPr/>
          <p:nvPr>
            <p:ph idx="2" type="sldImg"/>
          </p:nvPr>
        </p:nvSpPr>
        <p:spPr>
          <a:xfrm>
            <a:off x="508400" y="385763"/>
            <a:ext cx="81279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1:notes"/>
          <p:cNvSpPr txBox="1"/>
          <p:nvPr>
            <p:ph idx="1" type="body"/>
          </p:nvPr>
        </p:nvSpPr>
        <p:spPr>
          <a:xfrm>
            <a:off x="914400" y="2443163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  <p:sp>
        <p:nvSpPr>
          <p:cNvPr id="59" name="Google Shape;59;p2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  <p:sp>
        <p:nvSpPr>
          <p:cNvPr id="69" name="Google Shape;69;p3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  <p:sp>
        <p:nvSpPr>
          <p:cNvPr id="88" name="Google Shape;88;p4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5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  <p:sp>
        <p:nvSpPr>
          <p:cNvPr id="104" name="Google Shape;104;p5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6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  <p:sp>
        <p:nvSpPr>
          <p:cNvPr id="120" name="Google Shape;120;p6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7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  <p:sp>
        <p:nvSpPr>
          <p:cNvPr id="182" name="Google Shape;182;p7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8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  <p:sp>
        <p:nvSpPr>
          <p:cNvPr id="192" name="Google Shape;192;p8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/>
          <p:nvPr>
            <p:ph idx="2" type="sldImg"/>
          </p:nvPr>
        </p:nvSpPr>
        <p:spPr>
          <a:xfrm>
            <a:off x="508400" y="385763"/>
            <a:ext cx="81279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p9:notes"/>
          <p:cNvSpPr txBox="1"/>
          <p:nvPr>
            <p:ph idx="1" type="body"/>
          </p:nvPr>
        </p:nvSpPr>
        <p:spPr>
          <a:xfrm>
            <a:off x="914400" y="2443163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0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  <p:sp>
        <p:nvSpPr>
          <p:cNvPr id="209" name="Google Shape;209;p10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1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  <p:sp>
        <p:nvSpPr>
          <p:cNvPr id="224" name="Google Shape;224;p11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2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  <p:sp>
        <p:nvSpPr>
          <p:cNvPr id="238" name="Google Shape;238;p12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3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  <p:sp>
        <p:nvSpPr>
          <p:cNvPr id="253" name="Google Shape;253;p13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72458" y="4663217"/>
            <a:ext cx="5487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body"/>
          </p:nvPr>
        </p:nvSpPr>
        <p:spPr>
          <a:xfrm>
            <a:off x="357613" y="1060087"/>
            <a:ext cx="8209280" cy="336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543600" y="1422146"/>
            <a:ext cx="3650615" cy="2625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5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2" type="body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showMasterSp="0">
  <p:cSld name="Title Only">
    <p:bg>
      <p:bgPr>
        <a:solidFill>
          <a:schemeClr val="lt1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3999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6"/>
          <p:cNvSpPr/>
          <p:nvPr/>
        </p:nvSpPr>
        <p:spPr>
          <a:xfrm>
            <a:off x="0" y="0"/>
            <a:ext cx="9144000" cy="5143500"/>
          </a:xfrm>
          <a:custGeom>
            <a:rect b="b" l="l" r="r" t="t"/>
            <a:pathLst>
              <a:path extrusionOk="0" h="5143500" w="9144000">
                <a:moveTo>
                  <a:pt x="0" y="0"/>
                </a:moveTo>
                <a:lnTo>
                  <a:pt x="9143999" y="0"/>
                </a:lnTo>
                <a:lnTo>
                  <a:pt x="9143999" y="5143499"/>
                </a:lnTo>
                <a:lnTo>
                  <a:pt x="0" y="5143499"/>
                </a:lnTo>
                <a:lnTo>
                  <a:pt x="0" y="0"/>
                </a:lnTo>
                <a:close/>
              </a:path>
            </a:pathLst>
          </a:cu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" name="Google Shape;3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79019" y="2002917"/>
            <a:ext cx="3336280" cy="1513167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36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79563" y="2069848"/>
            <a:ext cx="3135191" cy="131243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6"/>
          <p:cNvSpPr/>
          <p:nvPr/>
        </p:nvSpPr>
        <p:spPr>
          <a:xfrm>
            <a:off x="2848001" y="1938394"/>
            <a:ext cx="3374390" cy="1398270"/>
          </a:xfrm>
          <a:custGeom>
            <a:rect b="b" l="l" r="r" t="t"/>
            <a:pathLst>
              <a:path extrusionOk="0" h="1398270" w="3374390">
                <a:moveTo>
                  <a:pt x="1583554" y="1398208"/>
                </a:moveTo>
                <a:lnTo>
                  <a:pt x="1518547" y="1397512"/>
                </a:lnTo>
                <a:lnTo>
                  <a:pt x="1454241" y="1395790"/>
                </a:lnTo>
                <a:lnTo>
                  <a:pt x="1390681" y="1393061"/>
                </a:lnTo>
                <a:lnTo>
                  <a:pt x="1327917" y="1389342"/>
                </a:lnTo>
                <a:lnTo>
                  <a:pt x="1265995" y="1384652"/>
                </a:lnTo>
                <a:lnTo>
                  <a:pt x="1204963" y="1379008"/>
                </a:lnTo>
                <a:lnTo>
                  <a:pt x="1144870" y="1372429"/>
                </a:lnTo>
                <a:lnTo>
                  <a:pt x="1085762" y="1364933"/>
                </a:lnTo>
                <a:lnTo>
                  <a:pt x="1027687" y="1356537"/>
                </a:lnTo>
                <a:lnTo>
                  <a:pt x="970693" y="1347260"/>
                </a:lnTo>
                <a:lnTo>
                  <a:pt x="914828" y="1337119"/>
                </a:lnTo>
                <a:lnTo>
                  <a:pt x="860140" y="1326134"/>
                </a:lnTo>
                <a:lnTo>
                  <a:pt x="806675" y="1314320"/>
                </a:lnTo>
                <a:lnTo>
                  <a:pt x="754482" y="1301698"/>
                </a:lnTo>
                <a:lnTo>
                  <a:pt x="703608" y="1288283"/>
                </a:lnTo>
                <a:lnTo>
                  <a:pt x="654102" y="1274096"/>
                </a:lnTo>
                <a:lnTo>
                  <a:pt x="606010" y="1259153"/>
                </a:lnTo>
                <a:lnTo>
                  <a:pt x="559380" y="1243473"/>
                </a:lnTo>
                <a:lnTo>
                  <a:pt x="514261" y="1227074"/>
                </a:lnTo>
                <a:lnTo>
                  <a:pt x="470699" y="1209973"/>
                </a:lnTo>
                <a:lnTo>
                  <a:pt x="428743" y="1192189"/>
                </a:lnTo>
                <a:lnTo>
                  <a:pt x="388439" y="1173740"/>
                </a:lnTo>
                <a:lnTo>
                  <a:pt x="349837" y="1154644"/>
                </a:lnTo>
                <a:lnTo>
                  <a:pt x="312983" y="1134918"/>
                </a:lnTo>
                <a:lnTo>
                  <a:pt x="277925" y="1114581"/>
                </a:lnTo>
                <a:lnTo>
                  <a:pt x="244710" y="1093650"/>
                </a:lnTo>
                <a:lnTo>
                  <a:pt x="184003" y="1050082"/>
                </a:lnTo>
                <a:lnTo>
                  <a:pt x="131244" y="1004356"/>
                </a:lnTo>
                <a:lnTo>
                  <a:pt x="86812" y="956618"/>
                </a:lnTo>
                <a:lnTo>
                  <a:pt x="51091" y="907011"/>
                </a:lnTo>
                <a:lnTo>
                  <a:pt x="24461" y="855679"/>
                </a:lnTo>
                <a:lnTo>
                  <a:pt x="7303" y="802767"/>
                </a:lnTo>
                <a:lnTo>
                  <a:pt x="0" y="748418"/>
                </a:lnTo>
                <a:lnTo>
                  <a:pt x="157" y="720998"/>
                </a:lnTo>
                <a:lnTo>
                  <a:pt x="8024" y="666761"/>
                </a:lnTo>
                <a:lnTo>
                  <a:pt x="25654" y="613464"/>
                </a:lnTo>
                <a:lnTo>
                  <a:pt x="52680" y="561274"/>
                </a:lnTo>
                <a:lnTo>
                  <a:pt x="88731" y="510356"/>
                </a:lnTo>
                <a:lnTo>
                  <a:pt x="133440" y="460877"/>
                </a:lnTo>
                <a:lnTo>
                  <a:pt x="186437" y="413003"/>
                </a:lnTo>
                <a:lnTo>
                  <a:pt x="247354" y="366900"/>
                </a:lnTo>
                <a:lnTo>
                  <a:pt x="280667" y="344564"/>
                </a:lnTo>
                <a:lnTo>
                  <a:pt x="315822" y="322734"/>
                </a:lnTo>
                <a:lnTo>
                  <a:pt x="352773" y="301428"/>
                </a:lnTo>
                <a:lnTo>
                  <a:pt x="391473" y="280670"/>
                </a:lnTo>
                <a:lnTo>
                  <a:pt x="431877" y="260478"/>
                </a:lnTo>
                <a:lnTo>
                  <a:pt x="473938" y="240874"/>
                </a:lnTo>
                <a:lnTo>
                  <a:pt x="517610" y="221879"/>
                </a:lnTo>
                <a:lnTo>
                  <a:pt x="562848" y="203514"/>
                </a:lnTo>
                <a:lnTo>
                  <a:pt x="609604" y="185798"/>
                </a:lnTo>
                <a:lnTo>
                  <a:pt x="657834" y="168754"/>
                </a:lnTo>
                <a:lnTo>
                  <a:pt x="707490" y="152401"/>
                </a:lnTo>
                <a:lnTo>
                  <a:pt x="758528" y="136761"/>
                </a:lnTo>
                <a:lnTo>
                  <a:pt x="810900" y="121854"/>
                </a:lnTo>
                <a:lnTo>
                  <a:pt x="864561" y="107700"/>
                </a:lnTo>
                <a:lnTo>
                  <a:pt x="919464" y="94322"/>
                </a:lnTo>
                <a:lnTo>
                  <a:pt x="975564" y="81739"/>
                </a:lnTo>
                <a:lnTo>
                  <a:pt x="1032814" y="69972"/>
                </a:lnTo>
                <a:lnTo>
                  <a:pt x="1091169" y="59041"/>
                </a:lnTo>
                <a:lnTo>
                  <a:pt x="1150581" y="48969"/>
                </a:lnTo>
                <a:lnTo>
                  <a:pt x="1211006" y="39775"/>
                </a:lnTo>
                <a:lnTo>
                  <a:pt x="1272397" y="31480"/>
                </a:lnTo>
                <a:lnTo>
                  <a:pt x="1334708" y="24105"/>
                </a:lnTo>
                <a:lnTo>
                  <a:pt x="1397893" y="17671"/>
                </a:lnTo>
                <a:lnTo>
                  <a:pt x="1461906" y="12198"/>
                </a:lnTo>
                <a:lnTo>
                  <a:pt x="1526700" y="7707"/>
                </a:lnTo>
                <a:lnTo>
                  <a:pt x="1592230" y="4219"/>
                </a:lnTo>
                <a:lnTo>
                  <a:pt x="1658449" y="1755"/>
                </a:lnTo>
                <a:lnTo>
                  <a:pt x="1724712" y="347"/>
                </a:lnTo>
                <a:lnTo>
                  <a:pt x="1790370" y="0"/>
                </a:lnTo>
                <a:lnTo>
                  <a:pt x="1855377" y="696"/>
                </a:lnTo>
                <a:lnTo>
                  <a:pt x="1919683" y="2418"/>
                </a:lnTo>
                <a:lnTo>
                  <a:pt x="1983243" y="5147"/>
                </a:lnTo>
                <a:lnTo>
                  <a:pt x="2046007" y="8865"/>
                </a:lnTo>
                <a:lnTo>
                  <a:pt x="2107929" y="13556"/>
                </a:lnTo>
                <a:lnTo>
                  <a:pt x="2168961" y="19199"/>
                </a:lnTo>
                <a:lnTo>
                  <a:pt x="2229054" y="25778"/>
                </a:lnTo>
                <a:lnTo>
                  <a:pt x="2288162" y="33275"/>
                </a:lnTo>
                <a:lnTo>
                  <a:pt x="2346237" y="41670"/>
                </a:lnTo>
                <a:lnTo>
                  <a:pt x="2403231" y="50947"/>
                </a:lnTo>
                <a:lnTo>
                  <a:pt x="2459096" y="61088"/>
                </a:lnTo>
                <a:lnTo>
                  <a:pt x="2513784" y="72074"/>
                </a:lnTo>
                <a:lnTo>
                  <a:pt x="2567249" y="83887"/>
                </a:lnTo>
                <a:lnTo>
                  <a:pt x="2619442" y="96510"/>
                </a:lnTo>
                <a:lnTo>
                  <a:pt x="2670316" y="109924"/>
                </a:lnTo>
                <a:lnTo>
                  <a:pt x="2719822" y="124111"/>
                </a:lnTo>
                <a:lnTo>
                  <a:pt x="2767914" y="139054"/>
                </a:lnTo>
                <a:lnTo>
                  <a:pt x="2814544" y="154734"/>
                </a:lnTo>
                <a:lnTo>
                  <a:pt x="2859663" y="171134"/>
                </a:lnTo>
                <a:lnTo>
                  <a:pt x="2903225" y="188234"/>
                </a:lnTo>
                <a:lnTo>
                  <a:pt x="2945181" y="206018"/>
                </a:lnTo>
                <a:lnTo>
                  <a:pt x="2985485" y="224468"/>
                </a:lnTo>
                <a:lnTo>
                  <a:pt x="3024087" y="243564"/>
                </a:lnTo>
                <a:lnTo>
                  <a:pt x="3060941" y="263290"/>
                </a:lnTo>
                <a:lnTo>
                  <a:pt x="3095999" y="283627"/>
                </a:lnTo>
                <a:lnTo>
                  <a:pt x="3129214" y="304557"/>
                </a:lnTo>
                <a:lnTo>
                  <a:pt x="3189921" y="348126"/>
                </a:lnTo>
                <a:lnTo>
                  <a:pt x="3242680" y="393851"/>
                </a:lnTo>
                <a:lnTo>
                  <a:pt x="3287112" y="441589"/>
                </a:lnTo>
                <a:lnTo>
                  <a:pt x="3322833" y="491196"/>
                </a:lnTo>
                <a:lnTo>
                  <a:pt x="3349463" y="542528"/>
                </a:lnTo>
                <a:lnTo>
                  <a:pt x="3366621" y="595441"/>
                </a:lnTo>
                <a:lnTo>
                  <a:pt x="3373925" y="649790"/>
                </a:lnTo>
                <a:lnTo>
                  <a:pt x="3373768" y="677209"/>
                </a:lnTo>
                <a:lnTo>
                  <a:pt x="3365901" y="731447"/>
                </a:lnTo>
                <a:lnTo>
                  <a:pt x="3348270" y="784744"/>
                </a:lnTo>
                <a:lnTo>
                  <a:pt x="3321245" y="836934"/>
                </a:lnTo>
                <a:lnTo>
                  <a:pt x="3285193" y="887851"/>
                </a:lnTo>
                <a:lnTo>
                  <a:pt x="3240485" y="937330"/>
                </a:lnTo>
                <a:lnTo>
                  <a:pt x="3187488" y="985204"/>
                </a:lnTo>
                <a:lnTo>
                  <a:pt x="3126570" y="1031307"/>
                </a:lnTo>
                <a:lnTo>
                  <a:pt x="3093257" y="1053643"/>
                </a:lnTo>
                <a:lnTo>
                  <a:pt x="3058102" y="1075474"/>
                </a:lnTo>
                <a:lnTo>
                  <a:pt x="3021151" y="1096779"/>
                </a:lnTo>
                <a:lnTo>
                  <a:pt x="2982451" y="1117538"/>
                </a:lnTo>
                <a:lnTo>
                  <a:pt x="2942047" y="1137729"/>
                </a:lnTo>
                <a:lnTo>
                  <a:pt x="2899986" y="1157333"/>
                </a:lnTo>
                <a:lnTo>
                  <a:pt x="2856314" y="1176328"/>
                </a:lnTo>
                <a:lnTo>
                  <a:pt x="2811077" y="1194694"/>
                </a:lnTo>
                <a:lnTo>
                  <a:pt x="2764320" y="1212409"/>
                </a:lnTo>
                <a:lnTo>
                  <a:pt x="2716090" y="1229453"/>
                </a:lnTo>
                <a:lnTo>
                  <a:pt x="2666434" y="1245806"/>
                </a:lnTo>
                <a:lnTo>
                  <a:pt x="2615397" y="1261447"/>
                </a:lnTo>
                <a:lnTo>
                  <a:pt x="2563024" y="1276354"/>
                </a:lnTo>
                <a:lnTo>
                  <a:pt x="2509364" y="1290507"/>
                </a:lnTo>
                <a:lnTo>
                  <a:pt x="2454460" y="1303886"/>
                </a:lnTo>
                <a:lnTo>
                  <a:pt x="2398360" y="1316469"/>
                </a:lnTo>
                <a:lnTo>
                  <a:pt x="2341110" y="1328236"/>
                </a:lnTo>
                <a:lnTo>
                  <a:pt x="2282756" y="1339166"/>
                </a:lnTo>
                <a:lnTo>
                  <a:pt x="2223343" y="1349238"/>
                </a:lnTo>
                <a:lnTo>
                  <a:pt x="2162918" y="1358432"/>
                </a:lnTo>
                <a:lnTo>
                  <a:pt x="2101527" y="1366727"/>
                </a:lnTo>
                <a:lnTo>
                  <a:pt x="2039216" y="1374102"/>
                </a:lnTo>
                <a:lnTo>
                  <a:pt x="1976031" y="1380537"/>
                </a:lnTo>
                <a:lnTo>
                  <a:pt x="1912018" y="1386009"/>
                </a:lnTo>
                <a:lnTo>
                  <a:pt x="1847224" y="1390500"/>
                </a:lnTo>
                <a:lnTo>
                  <a:pt x="1781694" y="1393988"/>
                </a:lnTo>
                <a:lnTo>
                  <a:pt x="1715475" y="1396452"/>
                </a:lnTo>
                <a:lnTo>
                  <a:pt x="1649212" y="1397861"/>
                </a:lnTo>
                <a:lnTo>
                  <a:pt x="1583554" y="1398208"/>
                </a:lnTo>
                <a:close/>
              </a:path>
            </a:pathLst>
          </a:custGeom>
          <a:solidFill>
            <a:srgbClr val="030017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6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/>
          <p:cNvSpPr txBox="1"/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" type="subTitle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7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000" u="none" cap="none" strike="noStrike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57613" y="1060087"/>
            <a:ext cx="8209280" cy="336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9.png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0.png"/><Relationship Id="rId4" Type="http://schemas.openxmlformats.org/officeDocument/2006/relationships/image" Target="../media/image9.png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0.png"/><Relationship Id="rId4" Type="http://schemas.openxmlformats.org/officeDocument/2006/relationships/image" Target="../media/image9.pn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17.png"/><Relationship Id="rId5" Type="http://schemas.openxmlformats.org/officeDocument/2006/relationships/image" Target="../media/image3.png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jpg"/><Relationship Id="rId4" Type="http://schemas.openxmlformats.org/officeDocument/2006/relationships/image" Target="../media/image14.jpg"/><Relationship Id="rId5" Type="http://schemas.openxmlformats.org/officeDocument/2006/relationships/image" Target="../media/image12.png"/><Relationship Id="rId6" Type="http://schemas.openxmlformats.org/officeDocument/2006/relationships/image" Target="../media/image11.png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Relationship Id="rId4" Type="http://schemas.openxmlformats.org/officeDocument/2006/relationships/image" Target="../media/image8.png"/><Relationship Id="rId5" Type="http://schemas.openxmlformats.org/officeDocument/2006/relationships/image" Target="../media/image16.jpg"/><Relationship Id="rId6" Type="http://schemas.openxmlformats.org/officeDocument/2006/relationships/image" Target="../media/image4.jpg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2.png"/><Relationship Id="rId4" Type="http://schemas.openxmlformats.org/officeDocument/2006/relationships/image" Target="../media/image15.jpg"/><Relationship Id="rId5" Type="http://schemas.openxmlformats.org/officeDocument/2006/relationships/image" Target="../media/image18.jpg"/><Relationship Id="rId6" Type="http://schemas.openxmlformats.org/officeDocument/2006/relationships/image" Target="../media/image23.jpg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Relationship Id="rId4" Type="http://schemas.openxmlformats.org/officeDocument/2006/relationships/image" Target="../media/image9.png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2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1E3E"/>
            </a:gs>
            <a:gs pos="100000">
              <a:srgbClr val="003F83"/>
            </a:gs>
          </a:gsLst>
          <a:lin ang="16200038" scaled="0"/>
        </a:gra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8" title="Recurso 1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" y="609600"/>
            <a:ext cx="1131802" cy="328825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/>
          <p:nvPr/>
        </p:nvSpPr>
        <p:spPr>
          <a:xfrm>
            <a:off x="609600" y="3446450"/>
            <a:ext cx="7924800" cy="7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4300" u="none" cap="none" strike="noStrik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at {{cliente_nombre}}</a:t>
            </a:r>
            <a:endParaRPr b="0" i="0" sz="4300" u="none" cap="none" strike="noStrike">
              <a:solidFill>
                <a:srgbClr val="FFFFFF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54" name="Google Shape;54;p8"/>
          <p:cNvSpPr txBox="1"/>
          <p:nvPr/>
        </p:nvSpPr>
        <p:spPr>
          <a:xfrm>
            <a:off x="609600" y="4297500"/>
            <a:ext cx="7924800" cy="2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400" u="none" cap="none" strike="noStrike">
                <a:solidFill>
                  <a:srgbClr val="EAEBF3"/>
                </a:solidFill>
                <a:latin typeface="Inter Medium"/>
                <a:ea typeface="Inter Medium"/>
                <a:cs typeface="Inter Medium"/>
                <a:sym typeface="Inter Medium"/>
              </a:rPr>
              <a:t>Kick-off meeting {{fecha_kickoff}}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EAEBF3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55" name="Google Shape;55;p8" title="line-01-transparent.png"/>
          <p:cNvPicPr preferRelativeResize="0"/>
          <p:nvPr/>
        </p:nvPicPr>
        <p:blipFill rotWithShape="1">
          <a:blip r:embed="rId4">
            <a:alphaModFix/>
          </a:blip>
          <a:srcRect b="20937" l="9722" r="23686" t="-26891"/>
          <a:stretch/>
        </p:blipFill>
        <p:spPr>
          <a:xfrm>
            <a:off x="4572000" y="0"/>
            <a:ext cx="4572001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8"/>
          <p:cNvSpPr txBox="1"/>
          <p:nvPr/>
        </p:nvSpPr>
        <p:spPr>
          <a:xfrm>
            <a:off x="609600" y="2714450"/>
            <a:ext cx="7924800" cy="7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4300" u="none" cap="none" strike="noStrik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Implementing Dost</a:t>
            </a:r>
            <a:endParaRPr b="0" i="0" sz="4300" u="none" cap="none" strike="noStrike">
              <a:solidFill>
                <a:srgbClr val="FFFFFF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61" name="Google Shape;61;p9"/>
          <p:cNvSpPr txBox="1"/>
          <p:nvPr>
            <p:ph type="title"/>
          </p:nvPr>
        </p:nvSpPr>
        <p:spPr>
          <a:xfrm>
            <a:off x="399550" y="204785"/>
            <a:ext cx="8344800" cy="61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33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Contenido de la sesión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" name="Google Shape;62;p9"/>
          <p:cNvSpPr txBox="1"/>
          <p:nvPr/>
        </p:nvSpPr>
        <p:spPr>
          <a:xfrm>
            <a:off x="1593799" y="1240787"/>
            <a:ext cx="4972200" cy="31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-490220" lvl="0" marL="56324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Presentación del equipo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2133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Contexto y necesidades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2133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Alcance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2514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Plan de trabajo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3149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Información necesaria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2768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Próximos pasos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3" name="Google Shape;63;p9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>
            <a:off x="400474" y="1012766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1</a:t>
            </a:r>
            <a:endParaRPr/>
          </a:p>
        </p:txBody>
      </p:sp>
      <p:pic>
        <p:nvPicPr>
          <p:cNvPr id="66" name="Google Shape;66;p9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71" name="Google Shape;71;p10"/>
          <p:cNvSpPr txBox="1"/>
          <p:nvPr>
            <p:ph type="title"/>
          </p:nvPr>
        </p:nvSpPr>
        <p:spPr>
          <a:xfrm>
            <a:off x="399550" y="204785"/>
            <a:ext cx="83448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1. Presentación del equipo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Google Shape;72;p10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3" name="Google Shape;7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5160" y="988449"/>
            <a:ext cx="1344921" cy="504366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0"/>
          <p:cNvSpPr/>
          <p:nvPr/>
        </p:nvSpPr>
        <p:spPr>
          <a:xfrm>
            <a:off x="2050974" y="1243175"/>
            <a:ext cx="2309510" cy="3382061"/>
          </a:xfrm>
          <a:custGeom>
            <a:rect b="b" l="l" r="r" t="t"/>
            <a:pathLst>
              <a:path extrusionOk="0" h="3088640" w="1885314">
                <a:moveTo>
                  <a:pt x="0" y="0"/>
                </a:moveTo>
                <a:lnTo>
                  <a:pt x="1884899" y="0"/>
                </a:lnTo>
              </a:path>
              <a:path extrusionOk="0" h="3088640" w="1885314">
                <a:moveTo>
                  <a:pt x="1884899" y="3088199"/>
                </a:moveTo>
                <a:lnTo>
                  <a:pt x="1884899" y="0"/>
                </a:lnTo>
              </a:path>
            </a:pathLst>
          </a:cu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5" name="Google Shape;75;p10"/>
          <p:cNvSpPr/>
          <p:nvPr/>
        </p:nvSpPr>
        <p:spPr>
          <a:xfrm>
            <a:off x="4363800" y="1243175"/>
            <a:ext cx="4218392" cy="3382061"/>
          </a:xfrm>
          <a:custGeom>
            <a:rect b="b" l="l" r="r" t="t"/>
            <a:pathLst>
              <a:path extrusionOk="0" h="3088640" w="1885315">
                <a:moveTo>
                  <a:pt x="0" y="0"/>
                </a:moveTo>
                <a:lnTo>
                  <a:pt x="1884899" y="0"/>
                </a:lnTo>
              </a:path>
              <a:path extrusionOk="0" h="3088640" w="1885315">
                <a:moveTo>
                  <a:pt x="1884899" y="3088199"/>
                </a:moveTo>
                <a:lnTo>
                  <a:pt x="1884899" y="0"/>
                </a:lnTo>
              </a:path>
            </a:pathLst>
          </a:cu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7" name="Google Shape;77;p10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5726" y="4733838"/>
            <a:ext cx="558049" cy="162126"/>
          </a:xfrm>
          <a:prstGeom prst="rect">
            <a:avLst/>
          </a:prstGeom>
          <a:noFill/>
          <a:ln>
            <a:noFill/>
          </a:ln>
        </p:spPr>
      </p:pic>
      <p:sp xmlns:p="http://schemas.openxmlformats.org/presentationml/2006/main" xmlns:a="http://schemas.openxmlformats.org/drawingml/2006/main">
        <p:nvSpPr>
          <p:cNvPr id="86" name="FotoSlot1"/>
          <p:cNvSpPr/>
          <p:nvPr/>
        </p:nvSpPr>
        <p:spPr>
          <a:xfrm>
            <a:off x="539575" y="1692525"/>
            <a:ext cx="1150000" cy="115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0B0B0"/>
            </a:solidFill>
            <a:prstDash val="dash"/>
          </a:ln>
        </p:spPr>
        <p:txBody>
          <a:bodyPr anchor="ctr" wrap="square" lIns="45000" rIns="45000" tIns="18000" bIns="18000"/>
          <a:lstStyle/>
          <a:p>
            <a:pPr algn="ctr"/>
            <a:r>
              <a:rPr lang="es-ES" sz="800" b="1">
                <a:solidFill>
                  <a:srgbClr val="909090"/>
                </a:solidFill>
                <a:latin typeface="Inter"/>
              </a:rPr>
              <a:t>{{persona_1_foto}}</a:t>
            </a:r>
          </a:p>
          <a:p>
            <a:pPr algn="ctr"/>
            <a:r>
              <a:rPr lang="es-ES" sz="700">
                <a:solidFill>
                  <a:srgbClr val="B0B0B0"/>
                </a:solidFill>
                <a:latin typeface="Inter"/>
              </a:rPr>
              <a:t>(copiar del banco)</a:t>
            </a:r>
          </a:p>
        </p:txBody>
      </p:sp>
      <p:sp xmlns:p="http://schemas.openxmlformats.org/presentationml/2006/main" xmlns:a="http://schemas.openxmlformats.org/drawingml/2006/main">
        <p:nvSpPr>
          <p:cNvPr id="87" name="FotoSlot3"/>
          <p:cNvSpPr/>
          <p:nvPr/>
        </p:nvSpPr>
        <p:spPr>
          <a:xfrm>
            <a:off x="539575" y="3219575"/>
            <a:ext cx="1150000" cy="115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0B0B0"/>
            </a:solidFill>
            <a:prstDash val="dash"/>
          </a:ln>
        </p:spPr>
        <p:txBody>
          <a:bodyPr anchor="ctr" wrap="square" lIns="45000" rIns="45000" tIns="18000" bIns="18000"/>
          <a:lstStyle/>
          <a:p>
            <a:pPr algn="ctr"/>
            <a:r>
              <a:rPr lang="es-ES" sz="800" b="1">
                <a:solidFill>
                  <a:srgbClr val="909090"/>
                </a:solidFill>
                <a:latin typeface="Inter"/>
              </a:rPr>
              <a:t>{{persona_3_foto}}</a:t>
            </a:r>
          </a:p>
          <a:p>
            <a:pPr algn="ctr"/>
            <a:r>
              <a:rPr lang="es-ES" sz="700">
                <a:solidFill>
                  <a:srgbClr val="B0B0B0"/>
                </a:solidFill>
                <a:latin typeface="Inter"/>
              </a:rPr>
              <a:t>(copiar del banco)</a:t>
            </a:r>
          </a:p>
        </p:txBody>
      </p:sp>
      <p:sp xmlns:p="http://schemas.openxmlformats.org/presentationml/2006/main" xmlns:a="http://schemas.openxmlformats.org/drawingml/2006/main">
        <p:nvSpPr>
          <p:cNvPr id="88" name="FotoSlot2"/>
          <p:cNvSpPr/>
          <p:nvPr/>
        </p:nvSpPr>
        <p:spPr>
          <a:xfrm>
            <a:off x="4698963" y="1692525"/>
            <a:ext cx="1150000" cy="115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0B0B0"/>
            </a:solidFill>
            <a:prstDash val="dash"/>
          </a:ln>
        </p:spPr>
        <p:txBody>
          <a:bodyPr anchor="ctr" wrap="square" lIns="45000" rIns="45000" tIns="18000" bIns="18000"/>
          <a:lstStyle/>
          <a:p>
            <a:pPr algn="ctr"/>
            <a:r>
              <a:rPr lang="es-ES" sz="800" b="1">
                <a:solidFill>
                  <a:srgbClr val="909090"/>
                </a:solidFill>
                <a:latin typeface="Inter"/>
              </a:rPr>
              <a:t>{{persona_2_foto}}</a:t>
            </a:r>
          </a:p>
          <a:p>
            <a:pPr algn="ctr"/>
            <a:r>
              <a:rPr lang="es-ES" sz="700">
                <a:solidFill>
                  <a:srgbClr val="B0B0B0"/>
                </a:solidFill>
                <a:latin typeface="Inter"/>
              </a:rPr>
              <a:t>(copiar del banco)</a:t>
            </a:r>
          </a:p>
        </p:txBody>
      </p:sp>
      <p:sp xmlns:p="http://schemas.openxmlformats.org/presentationml/2006/main" xmlns:a="http://schemas.openxmlformats.org/drawingml/2006/main">
        <p:nvSpPr>
          <p:cNvPr id="89" name="FotoSlot4"/>
          <p:cNvSpPr/>
          <p:nvPr/>
        </p:nvSpPr>
        <p:spPr>
          <a:xfrm>
            <a:off x="4698950" y="3219575"/>
            <a:ext cx="1150000" cy="115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0B0B0"/>
            </a:solidFill>
            <a:prstDash val="dash"/>
          </a:ln>
        </p:spPr>
        <p:txBody>
          <a:bodyPr anchor="ctr" wrap="square" lIns="45000" rIns="45000" tIns="18000" bIns="18000"/>
          <a:lstStyle/>
          <a:p>
            <a:pPr algn="ctr"/>
            <a:r>
              <a:rPr lang="es-ES" sz="800" b="1">
                <a:solidFill>
                  <a:srgbClr val="909090"/>
                </a:solidFill>
                <a:latin typeface="Inter"/>
              </a:rPr>
              <a:t>{{persona_4_foto}}</a:t>
            </a:r>
          </a:p>
          <a:p>
            <a:pPr algn="ctr"/>
            <a:r>
              <a:rPr lang="es-ES" sz="700">
                <a:solidFill>
                  <a:srgbClr val="B0B0B0"/>
                </a:solidFill>
                <a:latin typeface="Inter"/>
              </a:rPr>
              <a:t>(copiar del banco)</a:t>
            </a:r>
          </a:p>
        </p:txBody>
      </p:sp>
      <p:sp>
        <p:nvSpPr>
          <p:cNvPr id="82" name="Google Shape;82;p10"/>
          <p:cNvSpPr txBox="1"/>
          <p:nvPr/>
        </p:nvSpPr>
        <p:spPr>
          <a:xfrm>
            <a:off x="1797724" y="19325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{{persona_1_nombre}}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{{persona_1_rol}}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{{persona_1_bio_l1}}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{{persona_1_bio_l2}}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3" name="Google Shape;83;p10"/>
          <p:cNvSpPr txBox="1"/>
          <p:nvPr/>
        </p:nvSpPr>
        <p:spPr>
          <a:xfrm>
            <a:off x="5957110" y="19325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{{persona_2_nombre}}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{{persona_2_rol}}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{{persona_2_bio_l1}}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{{persona_2_bio_l2}}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4" name="Google Shape;84;p10"/>
          <p:cNvSpPr txBox="1"/>
          <p:nvPr/>
        </p:nvSpPr>
        <p:spPr>
          <a:xfrm>
            <a:off x="1797724" y="345957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{{persona_3_nombre}}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{{persona_3_rol}}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{{persona_3_bio_l1}}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{{persona_3_bio_l2}}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10"/>
          <p:cNvSpPr txBox="1"/>
          <p:nvPr/>
        </p:nvSpPr>
        <p:spPr>
          <a:xfrm>
            <a:off x="5957099" y="345957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{{persona_4_nombre}}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{{persona_4_rol}}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{{persona_4_bio_l1}}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{{persona_4_bio_l2}}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1"/>
          <p:cNvSpPr txBox="1"/>
          <p:nvPr>
            <p:ph idx="1" type="body"/>
          </p:nvPr>
        </p:nvSpPr>
        <p:spPr>
          <a:xfrm>
            <a:off x="543600" y="1280646"/>
            <a:ext cx="3650700" cy="33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Contexto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508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{{cliente_descripcion}}</a:t>
            </a:r>
            <a:endParaRPr sz="1100"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País o países donde opera: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{{cliente_pais}}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Número aproximado de documentos anuales: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{{documentos_anuales}}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○"/>
            </a:pPr>
            <a:r>
              <a:rPr lang="en-US" sz="1100">
                <a:latin typeface="Inter"/>
                <a:ea typeface="Inter"/>
                <a:cs typeface="Inter"/>
                <a:sym typeface="Inter"/>
              </a:rPr>
              <a:t xml:space="preserve">{{facturas_anuales}} </a:t>
            </a:r>
            <a:endParaRPr sz="11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ERP: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{{erp_nombre}}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Partner: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{{partner_implantador}}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20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Proveedores: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{{num_proveedores}}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descr="$PPTXTitle" id="91" name="Google Shape;91;p11"/>
          <p:cNvSpPr txBox="1"/>
          <p:nvPr>
            <p:ph type="title"/>
          </p:nvPr>
        </p:nvSpPr>
        <p:spPr>
          <a:xfrm>
            <a:off x="399550" y="345475"/>
            <a:ext cx="29769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2. Contexto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2" name="Google Shape;92;p11"/>
          <p:cNvSpPr/>
          <p:nvPr/>
        </p:nvSpPr>
        <p:spPr>
          <a:xfrm>
            <a:off x="4567677" y="4621800"/>
            <a:ext cx="3940175" cy="0"/>
          </a:xfrm>
          <a:custGeom>
            <a:rect b="b" l="l" r="r" t="t"/>
            <a:pathLst>
              <a:path extrusionOk="0" h="120000" w="3940175">
                <a:moveTo>
                  <a:pt x="0" y="0"/>
                </a:moveTo>
                <a:lnTo>
                  <a:pt x="3939899" y="0"/>
                </a:lnTo>
              </a:path>
            </a:pathLst>
          </a:custGeom>
          <a:noFill/>
          <a:ln cap="flat" cmpd="sng" w="190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3" name="Google Shape;93;p11"/>
          <p:cNvGrpSpPr/>
          <p:nvPr/>
        </p:nvGrpSpPr>
        <p:grpSpPr>
          <a:xfrm>
            <a:off x="400474" y="0"/>
            <a:ext cx="8743525" cy="5143500"/>
            <a:chOff x="400474" y="0"/>
            <a:chExt cx="8743525" cy="5143500"/>
          </a:xfrm>
        </p:grpSpPr>
        <p:pic>
          <p:nvPicPr>
            <p:cNvPr id="94" name="Google Shape;94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571999" y="0"/>
              <a:ext cx="4572000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5" name="Google Shape;95;p11"/>
            <p:cNvSpPr/>
            <p:nvPr/>
          </p:nvSpPr>
          <p:spPr>
            <a:xfrm>
              <a:off x="4571999" y="0"/>
              <a:ext cx="4572000" cy="5143500"/>
            </a:xfrm>
            <a:custGeom>
              <a:rect b="b" l="l" r="r" t="t"/>
              <a:pathLst>
                <a:path extrusionOk="0" h="5143500" w="4572000">
                  <a:moveTo>
                    <a:pt x="0" y="0"/>
                  </a:moveTo>
                  <a:lnTo>
                    <a:pt x="4571999" y="0"/>
                  </a:lnTo>
                  <a:lnTo>
                    <a:pt x="4571999" y="5143499"/>
                  </a:lnTo>
                  <a:lnTo>
                    <a:pt x="0" y="51434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1E3E"/>
            </a:soli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" name="Google Shape;96;p11"/>
            <p:cNvSpPr/>
            <p:nvPr/>
          </p:nvSpPr>
          <p:spPr>
            <a:xfrm>
              <a:off x="400474" y="1012766"/>
              <a:ext cx="8183245" cy="3609340"/>
            </a:xfrm>
            <a:custGeom>
              <a:rect b="b" l="l" r="r" t="t"/>
              <a:pathLst>
                <a:path extrusionOk="0" h="3609340" w="8183245">
                  <a:moveTo>
                    <a:pt x="0" y="0"/>
                  </a:moveTo>
                  <a:lnTo>
                    <a:pt x="8182799" y="0"/>
                  </a:lnTo>
                </a:path>
                <a:path extrusionOk="0" h="3609340" w="8183245">
                  <a:moveTo>
                    <a:pt x="0" y="3609025"/>
                  </a:moveTo>
                  <a:lnTo>
                    <a:pt x="8182799" y="3609025"/>
                  </a:lnTo>
                </a:path>
              </a:pathLst>
            </a:custGeom>
            <a:noFill/>
            <a:ln cap="flat" cmpd="sng" w="19025">
              <a:solidFill>
                <a:srgbClr val="0B00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11"/>
            <p:cNvSpPr/>
            <p:nvPr/>
          </p:nvSpPr>
          <p:spPr>
            <a:xfrm>
              <a:off x="4567677" y="1012775"/>
              <a:ext cx="3940175" cy="0"/>
            </a:xfrm>
            <a:custGeom>
              <a:rect b="b" l="l" r="r" t="t"/>
              <a:pathLst>
                <a:path extrusionOk="0" h="120000" w="3940175">
                  <a:moveTo>
                    <a:pt x="0" y="0"/>
                  </a:moveTo>
                  <a:lnTo>
                    <a:pt x="3939899" y="0"/>
                  </a:lnTo>
                </a:path>
              </a:pathLst>
            </a:custGeom>
            <a:noFill/>
            <a:ln cap="flat" cmpd="sng" w="190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8" name="Google Shape;98;p11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>
                <a:solidFill>
                  <a:srgbClr val="FFFFFF"/>
                </a:solidFill>
              </a:rPr>
              <a:t>3</a:t>
            </a:r>
            <a:endParaRPr/>
          </a:p>
        </p:txBody>
      </p:sp>
      <p:pic>
        <p:nvPicPr>
          <p:cNvPr id="99" name="Google Shape;99;p11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1"/>
          <p:cNvSpPr txBox="1"/>
          <p:nvPr/>
        </p:nvSpPr>
        <p:spPr>
          <a:xfrm>
            <a:off x="4962375" y="1280646"/>
            <a:ext cx="3470400" cy="16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Objetivos prioritarios del proyecto</a:t>
            </a:r>
            <a:endParaRPr b="0" i="0" sz="11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508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{{objetivo_prioritario}}</a:t>
            </a:r>
            <a:endParaRPr b="1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{{objetivo_detalle_1}}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{{objetivo_detalle_2}}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{{objetivo_detalle_3}}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{{objetivo_detalle_4}}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1" name="Google Shape;101;p11"/>
          <p:cNvSpPr txBox="1"/>
          <p:nvPr/>
        </p:nvSpPr>
        <p:spPr>
          <a:xfrm>
            <a:off x="4835025" y="345475"/>
            <a:ext cx="3933825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Necesidades</a:t>
            </a:r>
            <a:endParaRPr b="0" i="0" sz="30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2"/>
          <p:cNvSpPr txBox="1"/>
          <p:nvPr>
            <p:ph idx="1" type="body"/>
          </p:nvPr>
        </p:nvSpPr>
        <p:spPr>
          <a:xfrm>
            <a:off x="557750" y="1308946"/>
            <a:ext cx="3650700" cy="30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Caso de Uso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{{alcance_bullet_1_label}}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{{alcance_bullet_1_resto}}</a:t>
            </a:r>
            <a:endParaRPr b="0" sz="1100"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Font typeface="Inter"/>
              <a:buChar char="●"/>
            </a:pPr>
            <a:r>
              <a:rPr b="1"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{{alcance_bullet_2_label}}</a:t>
            </a:r>
            <a:r>
              <a:rPr b="0"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 xml:space="preserve"> {{alcance_bullet_2_resto}}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{{alcance_bullet_3_label}}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{{alcance_bullet_3_resto}}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{{alcance_bullet_4_label}}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{{alcance_bullet_4_resto}}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07" name="Google Shape;107;p12"/>
          <p:cNvGrpSpPr/>
          <p:nvPr/>
        </p:nvGrpSpPr>
        <p:grpSpPr>
          <a:xfrm>
            <a:off x="400474" y="0"/>
            <a:ext cx="8743525" cy="5143500"/>
            <a:chOff x="400474" y="0"/>
            <a:chExt cx="8743525" cy="5143500"/>
          </a:xfrm>
        </p:grpSpPr>
        <p:pic>
          <p:nvPicPr>
            <p:cNvPr id="108" name="Google Shape;108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571999" y="0"/>
              <a:ext cx="4572000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9" name="Google Shape;109;p12"/>
            <p:cNvSpPr/>
            <p:nvPr/>
          </p:nvSpPr>
          <p:spPr>
            <a:xfrm>
              <a:off x="4571999" y="0"/>
              <a:ext cx="4572000" cy="5143500"/>
            </a:xfrm>
            <a:custGeom>
              <a:rect b="b" l="l" r="r" t="t"/>
              <a:pathLst>
                <a:path extrusionOk="0" h="5143500" w="4572000">
                  <a:moveTo>
                    <a:pt x="0" y="0"/>
                  </a:moveTo>
                  <a:lnTo>
                    <a:pt x="4571999" y="0"/>
                  </a:lnTo>
                  <a:lnTo>
                    <a:pt x="4571999" y="5143499"/>
                  </a:lnTo>
                  <a:lnTo>
                    <a:pt x="0" y="51434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1E3E"/>
            </a:soli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12"/>
            <p:cNvSpPr/>
            <p:nvPr/>
          </p:nvSpPr>
          <p:spPr>
            <a:xfrm>
              <a:off x="400474" y="1012766"/>
              <a:ext cx="8183245" cy="3609340"/>
            </a:xfrm>
            <a:custGeom>
              <a:rect b="b" l="l" r="r" t="t"/>
              <a:pathLst>
                <a:path extrusionOk="0" h="3609340" w="8183245">
                  <a:moveTo>
                    <a:pt x="0" y="0"/>
                  </a:moveTo>
                  <a:lnTo>
                    <a:pt x="8182799" y="0"/>
                  </a:lnTo>
                </a:path>
                <a:path extrusionOk="0" h="3609340" w="8183245">
                  <a:moveTo>
                    <a:pt x="0" y="3609025"/>
                  </a:moveTo>
                  <a:lnTo>
                    <a:pt x="8182799" y="3609025"/>
                  </a:lnTo>
                </a:path>
              </a:pathLst>
            </a:custGeom>
            <a:noFill/>
            <a:ln cap="flat" cmpd="sng" w="19025">
              <a:solidFill>
                <a:srgbClr val="0B00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12"/>
            <p:cNvSpPr/>
            <p:nvPr/>
          </p:nvSpPr>
          <p:spPr>
            <a:xfrm>
              <a:off x="4567677" y="1012775"/>
              <a:ext cx="3940175" cy="0"/>
            </a:xfrm>
            <a:custGeom>
              <a:rect b="b" l="l" r="r" t="t"/>
              <a:pathLst>
                <a:path extrusionOk="0" h="120000" w="3940175">
                  <a:moveTo>
                    <a:pt x="0" y="0"/>
                  </a:moveTo>
                  <a:lnTo>
                    <a:pt x="3939899" y="0"/>
                  </a:lnTo>
                </a:path>
              </a:pathLst>
            </a:custGeom>
            <a:noFill/>
            <a:ln cap="flat" cmpd="sng" w="190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descr="$PPTXTitle" id="112" name="Google Shape;112;p12"/>
          <p:cNvSpPr txBox="1"/>
          <p:nvPr>
            <p:ph type="title"/>
          </p:nvPr>
        </p:nvSpPr>
        <p:spPr>
          <a:xfrm>
            <a:off x="399550" y="345475"/>
            <a:ext cx="29769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. Alcance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3" name="Google Shape;113;p12"/>
          <p:cNvSpPr/>
          <p:nvPr/>
        </p:nvSpPr>
        <p:spPr>
          <a:xfrm>
            <a:off x="4567677" y="4621800"/>
            <a:ext cx="3940175" cy="0"/>
          </a:xfrm>
          <a:custGeom>
            <a:rect b="b" l="l" r="r" t="t"/>
            <a:pathLst>
              <a:path extrusionOk="0" h="120000" w="3940175">
                <a:moveTo>
                  <a:pt x="0" y="0"/>
                </a:moveTo>
                <a:lnTo>
                  <a:pt x="3939899" y="0"/>
                </a:lnTo>
              </a:path>
            </a:pathLst>
          </a:custGeom>
          <a:noFill/>
          <a:ln cap="flat" cmpd="sng" w="190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2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>
                <a:solidFill>
                  <a:srgbClr val="FFFFFF"/>
                </a:solidFill>
              </a:rPr>
              <a:t>4</a:t>
            </a:r>
            <a:endParaRPr/>
          </a:p>
        </p:txBody>
      </p:sp>
      <p:pic>
        <p:nvPicPr>
          <p:cNvPr id="115" name="Google Shape;115;p12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2"/>
          <p:cNvSpPr txBox="1"/>
          <p:nvPr/>
        </p:nvSpPr>
        <p:spPr>
          <a:xfrm>
            <a:off x="4835025" y="259525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Compromiso</a:t>
            </a:r>
            <a:endParaRPr b="0" i="0" sz="30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7" name="Google Shape;117;p12"/>
          <p:cNvSpPr txBox="1"/>
          <p:nvPr/>
        </p:nvSpPr>
        <p:spPr>
          <a:xfrm>
            <a:off x="4962375" y="1150000"/>
            <a:ext cx="3470400" cy="33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3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Compromiso {{cliente_nombre}} &amp; Dost</a:t>
            </a:r>
            <a:endParaRPr b="0" i="0" sz="13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Dost es un SaaS, no una consultora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 xml:space="preserve">Dost construye a partir de la información compartida 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Cambios y parametrizaciones fuera del documento funcional / Onboarding → Premium Care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Agilidad: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Cumplimiento fechas acordadas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Respuestas a solicitudes (correos, llamadas)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 xml:space="preserve">Compartir documentación 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Realización de pruebas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Disponibilidad equipo (cierres / vacaciones)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131" name="Google Shape;131;p13"/>
          <p:cNvSpPr txBox="1"/>
          <p:nvPr>
            <p:ph type="title"/>
          </p:nvPr>
        </p:nvSpPr>
        <p:spPr>
          <a:xfrm>
            <a:off x="399550" y="120000"/>
            <a:ext cx="8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 xml:space="preserve">4. Plan de trabajo estimado 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2" name="Google Shape;132;p13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5</a:t>
            </a:r>
            <a:endParaRPr/>
          </a:p>
        </p:txBody>
      </p:sp>
      <p:sp>
        <p:nvSpPr>
          <p:cNvPr id="133" name="Google Shape;133;p13"/>
          <p:cNvSpPr txBox="1"/>
          <p:nvPr/>
        </p:nvSpPr>
        <p:spPr>
          <a:xfrm>
            <a:off x="1590700" y="4786400"/>
            <a:ext cx="5931600" cy="12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175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* Todo lo </a:t>
            </a:r>
            <a:r>
              <a:rPr b="0" i="0" lang="en-US" sz="8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que</a:t>
            </a:r>
            <a:r>
              <a:rPr b="0" i="0" lang="en-US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 no esté mencionado en el alcance/plan de trabajo anterior, no formará parte del proyecto de onboarding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4" name="Google Shape;134;p13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0476" y="4765900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1100" name="Txt1100"/>
          <p:cNvSpPr txBox="1"/>
          <p:nvPr/>
        </p:nvSpPr>
        <p:spPr>
          <a:xfrm>
            <a:off x="280000" y="880000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1100" b="1">
                <a:solidFill>
                  <a:srgbClr val="001E3E"/>
                </a:solidFill>
                <a:latin typeface="Inter"/>
              </a:rPr>
              <a:t>Fase</a:t>
            </a:r>
          </a:p>
        </p:txBody>
      </p:sp>
      <p:sp>
        <p:nvSpPr>
          <p:cNvPr id="1101" name="Txt1101"/>
          <p:cNvSpPr txBox="1"/>
          <p:nvPr/>
        </p:nvSpPr>
        <p:spPr>
          <a:xfrm>
            <a:off x="1480000" y="88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1100" b="1">
                <a:solidFill>
                  <a:srgbClr val="001E3E"/>
                </a:solidFill>
                <a:latin typeface="Inter"/>
              </a:rPr>
              <a:t>Acciones</a:t>
            </a:r>
          </a:p>
        </p:txBody>
      </p:sp>
      <p:sp>
        <p:nvSpPr>
          <p:cNvPr id="1102" name="Txt1102"/>
          <p:cNvSpPr txBox="1"/>
          <p:nvPr/>
        </p:nvSpPr>
        <p:spPr>
          <a:xfrm>
            <a:off x="41800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S1</a:t>
            </a:r>
          </a:p>
        </p:txBody>
      </p:sp>
      <p:sp>
        <p:nvSpPr>
          <p:cNvPr id="1103" name="Txt1103"/>
          <p:cNvSpPr txBox="1"/>
          <p:nvPr/>
        </p:nvSpPr>
        <p:spPr>
          <a:xfrm>
            <a:off x="47612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S2</a:t>
            </a:r>
          </a:p>
        </p:txBody>
      </p:sp>
      <p:sp>
        <p:nvSpPr>
          <p:cNvPr id="1104" name="Txt1104"/>
          <p:cNvSpPr txBox="1"/>
          <p:nvPr/>
        </p:nvSpPr>
        <p:spPr>
          <a:xfrm>
            <a:off x="53425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S3</a:t>
            </a:r>
          </a:p>
        </p:txBody>
      </p:sp>
      <p:sp>
        <p:nvSpPr>
          <p:cNvPr id="1105" name="Txt1105"/>
          <p:cNvSpPr txBox="1"/>
          <p:nvPr/>
        </p:nvSpPr>
        <p:spPr>
          <a:xfrm>
            <a:off x="59237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S4</a:t>
            </a:r>
          </a:p>
        </p:txBody>
      </p:sp>
      <p:sp>
        <p:nvSpPr>
          <p:cNvPr id="1106" name="Txt1106"/>
          <p:cNvSpPr txBox="1"/>
          <p:nvPr/>
        </p:nvSpPr>
        <p:spPr>
          <a:xfrm>
            <a:off x="65050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S5</a:t>
            </a:r>
          </a:p>
        </p:txBody>
      </p:sp>
      <p:sp>
        <p:nvSpPr>
          <p:cNvPr id="1107" name="Txt1107"/>
          <p:cNvSpPr txBox="1"/>
          <p:nvPr/>
        </p:nvSpPr>
        <p:spPr>
          <a:xfrm>
            <a:off x="70862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S6</a:t>
            </a:r>
          </a:p>
        </p:txBody>
      </p:sp>
      <p:sp>
        <p:nvSpPr>
          <p:cNvPr id="1108" name="Txt1108"/>
          <p:cNvSpPr txBox="1"/>
          <p:nvPr/>
        </p:nvSpPr>
        <p:spPr>
          <a:xfrm>
            <a:off x="76675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S7</a:t>
            </a:r>
          </a:p>
        </p:txBody>
      </p:sp>
      <p:sp>
        <p:nvSpPr>
          <p:cNvPr id="1109" name="Txt1109"/>
          <p:cNvSpPr txBox="1"/>
          <p:nvPr/>
        </p:nvSpPr>
        <p:spPr>
          <a:xfrm>
            <a:off x="82487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S8</a:t>
            </a:r>
          </a:p>
        </p:txBody>
      </p:sp>
      <p:sp>
        <p:nvSpPr>
          <p:cNvPr id="1110" name="Rect1110"/>
          <p:cNvSpPr/>
          <p:nvPr/>
        </p:nvSpPr>
        <p:spPr>
          <a:xfrm>
            <a:off x="280000" y="1160000"/>
            <a:ext cx="8550000" cy="8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11" name="Txt1111"/>
          <p:cNvSpPr txBox="1"/>
          <p:nvPr/>
        </p:nvSpPr>
        <p:spPr>
          <a:xfrm>
            <a:off x="280000" y="1190000"/>
            <a:ext cx="1200000" cy="112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Fase 1: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Análisis funcional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del proyecto</a:t>
            </a:r>
          </a:p>
        </p:txBody>
      </p:sp>
      <p:sp>
        <p:nvSpPr>
          <p:cNvPr id="1112" name="Txt1112"/>
          <p:cNvSpPr txBox="1"/>
          <p:nvPr/>
        </p:nvSpPr>
        <p:spPr>
          <a:xfrm>
            <a:off x="1480000" y="119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Reunión de kick off del proyecto</a:t>
            </a:r>
          </a:p>
        </p:txBody>
      </p:sp>
      <p:sp>
        <p:nvSpPr>
          <p:cNvPr id="1113" name="Rect1113"/>
          <p:cNvSpPr/>
          <p:nvPr/>
        </p:nvSpPr>
        <p:spPr>
          <a:xfrm>
            <a:off x="4276875" y="1300000"/>
            <a:ext cx="38750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14" name="Txt1114"/>
          <p:cNvSpPr txBox="1"/>
          <p:nvPr/>
        </p:nvSpPr>
        <p:spPr>
          <a:xfrm>
            <a:off x="1480000" y="147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Diseño de los requisitos de extracción</a:t>
            </a:r>
          </a:p>
        </p:txBody>
      </p:sp>
      <p:sp>
        <p:nvSpPr>
          <p:cNvPr id="1115" name="Rect1115"/>
          <p:cNvSpPr/>
          <p:nvPr/>
        </p:nvSpPr>
        <p:spPr>
          <a:xfrm>
            <a:off x="4276875" y="158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16" name="Txt1116"/>
          <p:cNvSpPr txBox="1"/>
          <p:nvPr/>
        </p:nvSpPr>
        <p:spPr>
          <a:xfrm>
            <a:off x="1480000" y="175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Aportación de información necesaria</a:t>
            </a:r>
          </a:p>
        </p:txBody>
      </p:sp>
      <p:sp>
        <p:nvSpPr>
          <p:cNvPr id="1117" name="Rect1117"/>
          <p:cNvSpPr/>
          <p:nvPr/>
        </p:nvSpPr>
        <p:spPr>
          <a:xfrm>
            <a:off x="4276875" y="1860000"/>
            <a:ext cx="155000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18" name="Txt1118"/>
          <p:cNvSpPr txBox="1"/>
          <p:nvPr/>
        </p:nvSpPr>
        <p:spPr>
          <a:xfrm>
            <a:off x="1480000" y="203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Desarrollo y firma del documento funcional</a:t>
            </a:r>
          </a:p>
        </p:txBody>
      </p:sp>
      <p:sp>
        <p:nvSpPr>
          <p:cNvPr id="1119" name="Rect1119"/>
          <p:cNvSpPr/>
          <p:nvPr/>
        </p:nvSpPr>
        <p:spPr>
          <a:xfrm>
            <a:off x="4858125" y="214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20" name="Diamond1120"/>
          <p:cNvSpPr/>
          <p:nvPr/>
        </p:nvSpPr>
        <p:spPr>
          <a:xfrm>
            <a:off x="5726875" y="2070000"/>
            <a:ext cx="200000" cy="200000"/>
          </a:xfrm>
          <a:prstGeom prst="diamond">
            <a:avLst/>
          </a:prstGeom>
          <a:solidFill>
            <a:srgbClr val="B0B0B0"/>
          </a:solidFill>
          <a:ln w="6350">
            <a:solidFill>
              <a:srgbClr val="707070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121" name="Rect1121"/>
          <p:cNvSpPr/>
          <p:nvPr/>
        </p:nvSpPr>
        <p:spPr>
          <a:xfrm>
            <a:off x="280000" y="2360000"/>
            <a:ext cx="8550000" cy="4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22" name="Txt1122"/>
          <p:cNvSpPr txBox="1"/>
          <p:nvPr/>
        </p:nvSpPr>
        <p:spPr>
          <a:xfrm>
            <a:off x="280000" y="2390000"/>
            <a:ext cx="1200000" cy="84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Fase 2: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Configuración y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entrenamiento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de proveedores</a:t>
            </a:r>
          </a:p>
        </p:txBody>
      </p:sp>
      <p:sp>
        <p:nvSpPr>
          <p:cNvPr id="1123" name="Txt1123"/>
          <p:cNvSpPr txBox="1"/>
          <p:nvPr/>
        </p:nvSpPr>
        <p:spPr>
          <a:xfrm>
            <a:off x="1480000" y="239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Creación del entorno Dost</a:t>
            </a:r>
          </a:p>
        </p:txBody>
      </p:sp>
      <p:sp>
        <p:nvSpPr>
          <p:cNvPr id="1124" name="Rect1124"/>
          <p:cNvSpPr/>
          <p:nvPr/>
        </p:nvSpPr>
        <p:spPr>
          <a:xfrm>
            <a:off x="4858125" y="250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25" name="Txt1125"/>
          <p:cNvSpPr txBox="1"/>
          <p:nvPr/>
        </p:nvSpPr>
        <p:spPr>
          <a:xfrm>
            <a:off x="1480000" y="267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Desarrollo conexión {{gantt_erp_conector}}</a:t>
            </a:r>
          </a:p>
        </p:txBody>
      </p:sp>
      <p:sp>
        <p:nvSpPr>
          <p:cNvPr id="1126" name="Rect1126"/>
          <p:cNvSpPr/>
          <p:nvPr/>
        </p:nvSpPr>
        <p:spPr>
          <a:xfrm>
            <a:off x="5439375" y="2780000"/>
            <a:ext cx="21312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27" name="Txt1127"/>
          <p:cNvSpPr txBox="1"/>
          <p:nvPr/>
        </p:nvSpPr>
        <p:spPr>
          <a:xfrm>
            <a:off x="1480000" y="295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Entrenamiento de proveedores ({{gantt_num_proveedores}})</a:t>
            </a:r>
          </a:p>
        </p:txBody>
      </p:sp>
      <p:sp>
        <p:nvSpPr>
          <p:cNvPr id="1128" name="Rect1128"/>
          <p:cNvSpPr/>
          <p:nvPr/>
        </p:nvSpPr>
        <p:spPr>
          <a:xfrm>
            <a:off x="5439375" y="3060000"/>
            <a:ext cx="21312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29" name="Diamond1129"/>
          <p:cNvSpPr/>
          <p:nvPr/>
        </p:nvSpPr>
        <p:spPr>
          <a:xfrm>
            <a:off x="7470625" y="2990000"/>
            <a:ext cx="200000" cy="200000"/>
          </a:xfrm>
          <a:prstGeom prst="diamond">
            <a:avLst/>
          </a:prstGeom>
          <a:solidFill>
            <a:srgbClr val="B0B0B0"/>
          </a:solidFill>
          <a:ln w="6350">
            <a:solidFill>
              <a:srgbClr val="707070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130" name="Rect1130"/>
          <p:cNvSpPr/>
          <p:nvPr/>
        </p:nvSpPr>
        <p:spPr>
          <a:xfrm>
            <a:off x="280000" y="3280000"/>
            <a:ext cx="8550000" cy="4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31" name="Txt1131"/>
          <p:cNvSpPr txBox="1"/>
          <p:nvPr/>
        </p:nvSpPr>
        <p:spPr>
          <a:xfrm>
            <a:off x="280000" y="3310000"/>
            <a:ext cx="1200000" cy="84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Fase 3: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Formación,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Pruebas y puesta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en producción</a:t>
            </a:r>
          </a:p>
        </p:txBody>
      </p:sp>
      <p:sp>
        <p:nvSpPr>
          <p:cNvPr id="1132" name="Txt1132"/>
          <p:cNvSpPr txBox="1"/>
          <p:nvPr/>
        </p:nvSpPr>
        <p:spPr>
          <a:xfrm>
            <a:off x="1480000" y="331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Formación en el uso de la plataforma</a:t>
            </a:r>
          </a:p>
        </p:txBody>
      </p:sp>
      <p:sp>
        <p:nvSpPr>
          <p:cNvPr id="1133" name="Rect1133"/>
          <p:cNvSpPr/>
          <p:nvPr/>
        </p:nvSpPr>
        <p:spPr>
          <a:xfrm>
            <a:off x="6601875" y="342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34" name="Txt1134"/>
          <p:cNvSpPr txBox="1"/>
          <p:nvPr/>
        </p:nvSpPr>
        <p:spPr>
          <a:xfrm>
            <a:off x="1480000" y="359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Pruebas de extracción y conciliación</a:t>
            </a:r>
          </a:p>
        </p:txBody>
      </p:sp>
      <p:sp>
        <p:nvSpPr>
          <p:cNvPr id="1135" name="Rect1135"/>
          <p:cNvSpPr/>
          <p:nvPr/>
        </p:nvSpPr>
        <p:spPr>
          <a:xfrm>
            <a:off x="6601875" y="3700000"/>
            <a:ext cx="155000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36" name="Txt1136"/>
          <p:cNvSpPr txBox="1"/>
          <p:nvPr/>
        </p:nvSpPr>
        <p:spPr>
          <a:xfrm>
            <a:off x="1480000" y="387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Puesta en producción y traspaso a Soporte</a:t>
            </a:r>
          </a:p>
        </p:txBody>
      </p:sp>
      <p:sp>
        <p:nvSpPr>
          <p:cNvPr id="1137" name="Rect1137"/>
          <p:cNvSpPr/>
          <p:nvPr/>
        </p:nvSpPr>
        <p:spPr>
          <a:xfrm>
            <a:off x="7764375" y="398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38" name="Diamond1138"/>
          <p:cNvSpPr/>
          <p:nvPr/>
        </p:nvSpPr>
        <p:spPr>
          <a:xfrm>
            <a:off x="8633125" y="3910000"/>
            <a:ext cx="200000" cy="200000"/>
          </a:xfrm>
          <a:prstGeom prst="diamond">
            <a:avLst/>
          </a:prstGeom>
          <a:solidFill>
            <a:srgbClr val="B0B0B0"/>
          </a:solidFill>
          <a:ln w="6350">
            <a:solidFill>
              <a:srgbClr val="707070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139" name="Rect1139"/>
          <p:cNvSpPr/>
          <p:nvPr/>
        </p:nvSpPr>
        <p:spPr>
          <a:xfrm>
            <a:off x="280000" y="4200000"/>
            <a:ext cx="8550000" cy="4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40" name="Txt1140"/>
          <p:cNvSpPr txBox="1"/>
          <p:nvPr/>
        </p:nvSpPr>
        <p:spPr>
          <a:xfrm>
            <a:off x="280000" y="4230000"/>
            <a:ext cx="1200000" cy="28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Seguimiento</a:t>
            </a:r>
          </a:p>
        </p:txBody>
      </p:sp>
      <p:sp>
        <p:nvSpPr>
          <p:cNvPr id="1141" name="Txt1141"/>
          <p:cNvSpPr txBox="1"/>
          <p:nvPr/>
        </p:nvSpPr>
        <p:spPr>
          <a:xfrm>
            <a:off x="1480000" y="423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Reuniones semanales de seguimiento</a:t>
            </a:r>
          </a:p>
        </p:txBody>
      </p:sp>
      <p:sp>
        <p:nvSpPr>
          <p:cNvPr id="1142" name="Rect1142"/>
          <p:cNvSpPr/>
          <p:nvPr/>
        </p:nvSpPr>
        <p:spPr>
          <a:xfrm>
            <a:off x="4276875" y="4340000"/>
            <a:ext cx="44562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43" name="Diamond1143"/>
          <p:cNvSpPr/>
          <p:nvPr/>
        </p:nvSpPr>
        <p:spPr>
          <a:xfrm>
            <a:off x="7730000" y="630000"/>
            <a:ext cx="180000" cy="180000"/>
          </a:xfrm>
          <a:prstGeom prst="diamond">
            <a:avLst/>
          </a:prstGeom>
          <a:solidFill>
            <a:srgbClr val="B0B0B0"/>
          </a:solidFill>
          <a:ln w="6350">
            <a:solidFill>
              <a:srgbClr val="707070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144" name="Txt1144"/>
          <p:cNvSpPr txBox="1"/>
          <p:nvPr/>
        </p:nvSpPr>
        <p:spPr>
          <a:xfrm>
            <a:off x="7970000" y="630000"/>
            <a:ext cx="800000" cy="1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Hito clave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184" name="Google Shape;184;p14"/>
          <p:cNvSpPr txBox="1"/>
          <p:nvPr>
            <p:ph type="title"/>
          </p:nvPr>
        </p:nvSpPr>
        <p:spPr>
          <a:xfrm>
            <a:off x="399550" y="204785"/>
            <a:ext cx="83448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5. Información necesaria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5" name="Google Shape;185;p14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4"/>
          <p:cNvSpPr/>
          <p:nvPr/>
        </p:nvSpPr>
        <p:spPr>
          <a:xfrm>
            <a:off x="400474" y="1012766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4"/>
          <p:cNvSpPr txBox="1"/>
          <p:nvPr/>
        </p:nvSpPr>
        <p:spPr>
          <a:xfrm>
            <a:off x="473600" y="1177329"/>
            <a:ext cx="7446600" cy="377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3325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300" u="sng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Envío en los próximos días</a:t>
            </a: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{{info_envio_1}}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{{info_envio_2}}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{{info_envio_3}}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{{info_envio_4}}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5080" rtl="0" algn="l">
              <a:lnSpc>
                <a:spcPct val="2114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300" u="sng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A decidir durante las reuniones de diseño funcional</a:t>
            </a: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5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{{info_decidir_1}}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5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{{info_decidir_2}}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8" name="Google Shape;188;p14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6</a:t>
            </a:r>
            <a:endParaRPr/>
          </a:p>
        </p:txBody>
      </p:sp>
      <p:pic>
        <p:nvPicPr>
          <p:cNvPr id="189" name="Google Shape;189;p14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194" name="Google Shape;194;p15"/>
          <p:cNvSpPr txBox="1"/>
          <p:nvPr>
            <p:ph type="title"/>
          </p:nvPr>
        </p:nvSpPr>
        <p:spPr>
          <a:xfrm>
            <a:off x="399550" y="204785"/>
            <a:ext cx="83448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6. Próximos pasos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5" name="Google Shape;195;p15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5"/>
          <p:cNvSpPr/>
          <p:nvPr/>
        </p:nvSpPr>
        <p:spPr>
          <a:xfrm>
            <a:off x="400474" y="1012766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5"/>
          <p:cNvSpPr txBox="1"/>
          <p:nvPr/>
        </p:nvSpPr>
        <p:spPr>
          <a:xfrm>
            <a:off x="517690" y="1300000"/>
            <a:ext cx="7494900" cy="3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-336550" lvl="0" marL="457200" marR="0" rtl="0" algn="l">
              <a:lnSpc>
                <a:spcPct val="100000"/>
              </a:lnSpc>
              <a:buClr>
                <a:srgbClr val="001E3E"/>
              </a:buClr>
              <a:buSzPts val="1700"/>
              <a:buFont typeface="Inter"/>
              <a:buAutoNum type="arabicPeriod" startAt="1"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Fijar reuniones de seguimiento semanal y personas involucradas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6550" lvl="0" marL="457200" marR="415925" rtl="0" algn="l">
              <a:spcBef>
                <a:spcPts val="1400"/>
              </a:spcBef>
              <a:lnSpc>
                <a:spcPct val="100000"/>
              </a:lnSpc>
              <a:buClr>
                <a:srgbClr val="001E3E"/>
              </a:buClr>
              <a:buSzPts val="1700"/>
              <a:buFont typeface="Inter"/>
              <a:buAutoNum type="arabicPeriod" startAt="2"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Fijar primeras reuniones funcionales esta semana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6550" lvl="0" marL="457200" marR="415925" rtl="0" algn="l">
              <a:spcBef>
                <a:spcPts val="1400"/>
              </a:spcBef>
              <a:lnSpc>
                <a:spcPct val="100000"/>
              </a:lnSpc>
              <a:buClr>
                <a:srgbClr val="001E3E"/>
              </a:buClr>
              <a:buSzPts val="1700"/>
              <a:buFont typeface="Inter"/>
              <a:buAutoNum type="arabicPeriod" startAt="3"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{{proximo_paso_caso_uso}}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6550" lvl="0" marL="457200" marR="415925" rtl="0" algn="l">
              <a:spcBef>
                <a:spcPts val="1400"/>
              </a:spcBef>
              <a:lnSpc>
                <a:spcPct val="100000"/>
              </a:lnSpc>
              <a:buClr>
                <a:srgbClr val="001E3E"/>
              </a:buClr>
              <a:buSzPts val="1700"/>
              <a:buFont typeface="Inter"/>
              <a:buAutoNum type="arabicPeriod" startAt="4"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{{proximo_paso_caso_uso_2}}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8" name="Google Shape;198;p15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7</a:t>
            </a:r>
            <a:endParaRPr/>
          </a:p>
        </p:txBody>
      </p:sp>
      <p:pic>
        <p:nvPicPr>
          <p:cNvPr id="199" name="Google Shape;199;p15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551" y="4773225"/>
            <a:ext cx="558049" cy="162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18223C"/>
            </a:gs>
            <a:gs pos="100000">
              <a:srgbClr val="003F83"/>
            </a:gs>
          </a:gsLst>
          <a:lin ang="16200038" scaled="0"/>
        </a:gra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16" title="Recurso 2@2x.png"/>
          <p:cNvPicPr preferRelativeResize="0"/>
          <p:nvPr/>
        </p:nvPicPr>
        <p:blipFill rotWithShape="1">
          <a:blip r:embed="rId3">
            <a:alphaModFix/>
          </a:blip>
          <a:srcRect b="-9756" l="-9374" r="6473" t="51825"/>
          <a:stretch/>
        </p:blipFill>
        <p:spPr>
          <a:xfrm>
            <a:off x="15875" y="0"/>
            <a:ext cx="9128125" cy="512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6" title="Recurso 1@2x.png"/>
          <p:cNvPicPr preferRelativeResize="0"/>
          <p:nvPr/>
        </p:nvPicPr>
        <p:blipFill rotWithShape="1">
          <a:blip r:embed="rId4">
            <a:alphaModFix/>
          </a:blip>
          <a:srcRect b="-3155" l="12279" r="-6299" t="50225"/>
          <a:stretch/>
        </p:blipFill>
        <p:spPr>
          <a:xfrm>
            <a:off x="0" y="0"/>
            <a:ext cx="9128125" cy="512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6" title="Recurso 1@4x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693750" y="1887450"/>
            <a:ext cx="3466573" cy="1007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7"/>
          <p:cNvSpPr txBox="1"/>
          <p:nvPr/>
        </p:nvSpPr>
        <p:spPr>
          <a:xfrm>
            <a:off x="399550" y="204775"/>
            <a:ext cx="80001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1D3F"/>
                </a:solidFill>
                <a:latin typeface="Inter"/>
                <a:ea typeface="Inter"/>
                <a:cs typeface="Inter"/>
                <a:sym typeface="Inter"/>
              </a:rPr>
              <a:t>🔒 Banco — Equipo Dost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7"/>
          <p:cNvSpPr txBox="1"/>
          <p:nvPr/>
        </p:nvSpPr>
        <p:spPr>
          <a:xfrm>
            <a:off x="399550" y="700000"/>
            <a:ext cx="80001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BANCO OCULTO — copia el bloque de la persona que aplica y pégalo en el slide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7"/>
          <p:cNvSpPr txBox="1"/>
          <p:nvPr/>
        </p:nvSpPr>
        <p:spPr>
          <a:xfrm>
            <a:off x="190500" y="4905375"/>
            <a:ext cx="8763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1" lang="en-US" sz="9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Slide oculto. No se muestra en presentación. Para PowerPoint: clic derecho sobre el slide en el panel lateral → 'Mostrar diapositiva' para activarlo si necesitas verlo.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4" name="Google Shape;214;p17"/>
          <p:cNvPicPr preferRelativeResize="0"/>
          <p:nvPr/>
        </p:nvPicPr>
        <p:blipFill rotWithShape="1">
          <a:blip r:embed="rId3">
            <a:alphaModFix/>
          </a:blip>
          <a:srcRect b="0" l="4279" r="4288" t="0"/>
          <a:stretch/>
        </p:blipFill>
        <p:spPr>
          <a:xfrm>
            <a:off x="399550" y="1086525"/>
            <a:ext cx="1077574" cy="11785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15" name="Google Shape;215;p17"/>
          <p:cNvPicPr preferRelativeResize="0"/>
          <p:nvPr/>
        </p:nvPicPr>
        <p:blipFill rotWithShape="1">
          <a:blip r:embed="rId4">
            <a:alphaModFix/>
          </a:blip>
          <a:srcRect b="0" l="3315" r="3306" t="0"/>
          <a:stretch/>
        </p:blipFill>
        <p:spPr>
          <a:xfrm>
            <a:off x="4291700" y="1086525"/>
            <a:ext cx="1077574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descr="paula_fochs.png" id="216" name="Google Shape;216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550" y="2908188"/>
            <a:ext cx="10775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descr="viviana_malacria.png" id="217" name="Google Shape;217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291700" y="2908188"/>
            <a:ext cx="10775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18" name="Google Shape;218;p17"/>
          <p:cNvSpPr txBox="1"/>
          <p:nvPr/>
        </p:nvSpPr>
        <p:spPr>
          <a:xfrm>
            <a:off x="1657698" y="13265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Carlos Gómez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Onboarding Leader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9" name="Google Shape;219;p17"/>
          <p:cNvSpPr txBox="1"/>
          <p:nvPr/>
        </p:nvSpPr>
        <p:spPr>
          <a:xfrm>
            <a:off x="5549848" y="13265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Alejandra Barrena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Onboarding Leader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0" name="Google Shape;220;p17"/>
          <p:cNvSpPr txBox="1"/>
          <p:nvPr/>
        </p:nvSpPr>
        <p:spPr>
          <a:xfrm>
            <a:off x="1657698" y="3148188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Paula Fochs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Onboarding Leader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1" name="Google Shape;221;p17"/>
          <p:cNvSpPr txBox="1"/>
          <p:nvPr/>
        </p:nvSpPr>
        <p:spPr>
          <a:xfrm>
            <a:off x="5549848" y="3148188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Viviana Malacria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Onboarding Leader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8"/>
          <p:cNvSpPr txBox="1"/>
          <p:nvPr/>
        </p:nvSpPr>
        <p:spPr>
          <a:xfrm>
            <a:off x="399550" y="204775"/>
            <a:ext cx="8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1D3F"/>
                </a:solidFill>
                <a:latin typeface="Inter"/>
                <a:ea typeface="Inter"/>
                <a:cs typeface="Inter"/>
                <a:sym typeface="Inter"/>
              </a:rPr>
              <a:t>🔒 Banco — Equipo Dost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8"/>
          <p:cNvSpPr txBox="1"/>
          <p:nvPr/>
        </p:nvSpPr>
        <p:spPr>
          <a:xfrm>
            <a:off x="190500" y="4905375"/>
            <a:ext cx="8763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1" lang="en-US" sz="9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Slide oculto. No se muestra en presentación. Para PowerPoint: clic derecho sobre el slide en el panel lateral → 'Mostrar diapositiva' para activarlo si necesitas verlo.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ernando_martin.png" id="228" name="Google Shape;22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550" y="1086525"/>
            <a:ext cx="1077575" cy="11619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29" name="Google Shape;229;p18" title="image.png"/>
          <p:cNvPicPr preferRelativeResize="0"/>
          <p:nvPr/>
        </p:nvPicPr>
        <p:blipFill rotWithShape="1">
          <a:blip r:embed="rId4">
            <a:alphaModFix/>
          </a:blip>
          <a:srcRect b="0" l="5346" r="5560" t="0"/>
          <a:stretch/>
        </p:blipFill>
        <p:spPr>
          <a:xfrm>
            <a:off x="399550" y="2908188"/>
            <a:ext cx="1077574" cy="1135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30" name="Google Shape;230;p18" title="20210907_170621.jpg"/>
          <p:cNvPicPr preferRelativeResize="0"/>
          <p:nvPr/>
        </p:nvPicPr>
        <p:blipFill rotWithShape="1">
          <a:blip r:embed="rId5">
            <a:alphaModFix/>
          </a:blip>
          <a:srcRect b="0" l="8127" r="7041" t="0"/>
          <a:stretch/>
        </p:blipFill>
        <p:spPr>
          <a:xfrm>
            <a:off x="4291700" y="1086525"/>
            <a:ext cx="1077576" cy="12095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31" name="Google Shape;231;p18" title="a62c8b21-0e69-46a9-b029-ad32e1bb5625.JPG"/>
          <p:cNvPicPr preferRelativeResize="0"/>
          <p:nvPr/>
        </p:nvPicPr>
        <p:blipFill rotWithShape="1">
          <a:blip r:embed="rId6">
            <a:alphaModFix/>
          </a:blip>
          <a:srcRect b="25167" l="0" r="0" t="0"/>
          <a:stretch/>
        </p:blipFill>
        <p:spPr>
          <a:xfrm>
            <a:off x="4291700" y="2908188"/>
            <a:ext cx="1077576" cy="120951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32" name="Google Shape;232;p18"/>
          <p:cNvSpPr txBox="1"/>
          <p:nvPr/>
        </p:nvSpPr>
        <p:spPr>
          <a:xfrm>
            <a:off x="1657698" y="13265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Fernando Martín</a:t>
            </a:r>
            <a:endParaRPr sz="1200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900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CO-Founder</a:t>
            </a:r>
            <a:endParaRPr sz="900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3" name="Google Shape;233;p18"/>
          <p:cNvSpPr txBox="1"/>
          <p:nvPr/>
        </p:nvSpPr>
        <p:spPr>
          <a:xfrm>
            <a:off x="5549849" y="13265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Ignacio Gassó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Head of Customer Success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+8 años en Fintech B2B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+6 años en SaaS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4" name="Google Shape;234;p18"/>
          <p:cNvSpPr txBox="1"/>
          <p:nvPr/>
        </p:nvSpPr>
        <p:spPr>
          <a:xfrm>
            <a:off x="1657697" y="3148188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Marcia Bardauil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Product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Payments, Bank and Global e-invoicing expert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5" name="Google Shape;235;p18"/>
          <p:cNvSpPr txBox="1"/>
          <p:nvPr/>
        </p:nvSpPr>
        <p:spPr>
          <a:xfrm>
            <a:off x="5549849" y="3148188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Alexandra Colina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Technical Consultant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ERP &amp; API expert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9"/>
          <p:cNvSpPr txBox="1"/>
          <p:nvPr/>
        </p:nvSpPr>
        <p:spPr>
          <a:xfrm>
            <a:off x="399550" y="204775"/>
            <a:ext cx="8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1D3F"/>
                </a:solidFill>
                <a:latin typeface="Inter"/>
                <a:ea typeface="Inter"/>
                <a:cs typeface="Inter"/>
                <a:sym typeface="Inter"/>
              </a:rPr>
              <a:t>🔒 Banco — Account Executives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9"/>
          <p:cNvSpPr txBox="1"/>
          <p:nvPr/>
        </p:nvSpPr>
        <p:spPr>
          <a:xfrm>
            <a:off x="399550" y="70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BANCO OCULTO — copia el bloque de la persona que aplica y pégalo en el slide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19"/>
          <p:cNvSpPr txBox="1"/>
          <p:nvPr/>
        </p:nvSpPr>
        <p:spPr>
          <a:xfrm>
            <a:off x="190500" y="4700000"/>
            <a:ext cx="8763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1" lang="en-US" sz="9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Slide oculto. No se muestra en presentación. Para PowerPoint: clic derecho sobre el slide en el panel lateral → 'Mostrar diapositiva' para activarlo si necesitas verlo.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drian_tse.png" id="243" name="Google Shape;24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550" y="1020625"/>
            <a:ext cx="10775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44" name="Google Shape;244;p19"/>
          <p:cNvPicPr preferRelativeResize="0"/>
          <p:nvPr/>
        </p:nvPicPr>
        <p:blipFill rotWithShape="1">
          <a:blip r:embed="rId4">
            <a:alphaModFix/>
          </a:blip>
          <a:srcRect b="0" l="3315" r="3315" t="0"/>
          <a:stretch/>
        </p:blipFill>
        <p:spPr>
          <a:xfrm>
            <a:off x="4291700" y="1020625"/>
            <a:ext cx="1077550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45" name="Google Shape;245;p19"/>
          <p:cNvPicPr preferRelativeResize="0"/>
          <p:nvPr/>
        </p:nvPicPr>
        <p:blipFill rotWithShape="1">
          <a:blip r:embed="rId5">
            <a:alphaModFix/>
          </a:blip>
          <a:srcRect b="0" l="3315" r="3315" t="0"/>
          <a:stretch/>
        </p:blipFill>
        <p:spPr>
          <a:xfrm>
            <a:off x="399550" y="2962250"/>
            <a:ext cx="1077551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46" name="Google Shape;246;p19"/>
          <p:cNvPicPr preferRelativeResize="0"/>
          <p:nvPr/>
        </p:nvPicPr>
        <p:blipFill rotWithShape="1">
          <a:blip r:embed="rId6">
            <a:alphaModFix/>
          </a:blip>
          <a:srcRect b="0" l="4128" r="4128" t="0"/>
          <a:stretch/>
        </p:blipFill>
        <p:spPr>
          <a:xfrm>
            <a:off x="4301088" y="2962250"/>
            <a:ext cx="10587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47" name="Google Shape;247;p19"/>
          <p:cNvSpPr txBox="1"/>
          <p:nvPr/>
        </p:nvSpPr>
        <p:spPr>
          <a:xfrm>
            <a:off x="1657698" y="12606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Adrián Tse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8" name="Google Shape;248;p19"/>
          <p:cNvSpPr txBox="1"/>
          <p:nvPr/>
        </p:nvSpPr>
        <p:spPr>
          <a:xfrm>
            <a:off x="5549823" y="12606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Dani Menendez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9" name="Google Shape;249;p19"/>
          <p:cNvSpPr txBox="1"/>
          <p:nvPr/>
        </p:nvSpPr>
        <p:spPr>
          <a:xfrm>
            <a:off x="1657674" y="3202250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Diego Rengel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0" name="Google Shape;250;p19"/>
          <p:cNvSpPr txBox="1"/>
          <p:nvPr/>
        </p:nvSpPr>
        <p:spPr>
          <a:xfrm>
            <a:off x="5540436" y="3202250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Miki Arrufat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0"/>
          <p:cNvSpPr txBox="1"/>
          <p:nvPr>
            <p:ph idx="1" type="body"/>
          </p:nvPr>
        </p:nvSpPr>
        <p:spPr>
          <a:xfrm>
            <a:off x="543600" y="1280646"/>
            <a:ext cx="3650700" cy="33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Discrepancias detectadas: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508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</a:pP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ELIMINAR este slide antes de presentar al cliente. Solo para uso interno del CSM.</a:t>
            </a:r>
            <a:endParaRPr sz="1300"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Discrepancia 1: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{{discrepancia_1}}</a:t>
            </a:r>
            <a:endParaRPr b="0" sz="13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Discrepancia 2: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{{discrepancia_2}}</a:t>
            </a:r>
            <a:endParaRPr b="0" sz="13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○"/>
            </a:pPr>
            <a:r>
              <a:rPr lang="en-US" sz="1100">
                <a:latin typeface="Inter"/>
                <a:ea typeface="Inter"/>
                <a:cs typeface="Inter"/>
                <a:sym typeface="Inter"/>
              </a:rPr>
              <a:t xml:space="preserve">{{discrepancia_3_opcional}} 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Pendiente 1: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{{pendiente_1}}</a:t>
            </a:r>
            <a:endParaRPr b="0" sz="13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Pendiente 2: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{{pendiente_2}}</a:t>
            </a:r>
            <a:endParaRPr b="0" sz="13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Pendiente 3: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{{pendiente_3}}</a:t>
            </a:r>
            <a:endParaRPr b="0" sz="13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descr="$PPTXTitle" id="256" name="Google Shape;256;p20"/>
          <p:cNvSpPr txBox="1"/>
          <p:nvPr>
            <p:ph type="title"/>
          </p:nvPr>
        </p:nvSpPr>
        <p:spPr>
          <a:xfrm>
            <a:off x="399550" y="345475"/>
            <a:ext cx="4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⚠️ PRE-KICKOFF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7" name="Google Shape;257;p20"/>
          <p:cNvSpPr/>
          <p:nvPr/>
        </p:nvSpPr>
        <p:spPr>
          <a:xfrm>
            <a:off x="4567677" y="4621800"/>
            <a:ext cx="3940175" cy="0"/>
          </a:xfrm>
          <a:custGeom>
            <a:rect b="b" l="l" r="r" t="t"/>
            <a:pathLst>
              <a:path extrusionOk="0" h="120000" w="3940175">
                <a:moveTo>
                  <a:pt x="0" y="0"/>
                </a:moveTo>
                <a:lnTo>
                  <a:pt x="3939899" y="0"/>
                </a:lnTo>
              </a:path>
            </a:pathLst>
          </a:custGeom>
          <a:noFill/>
          <a:ln cap="flat" cmpd="sng" w="190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8" name="Google Shape;258;p20"/>
          <p:cNvGrpSpPr/>
          <p:nvPr/>
        </p:nvGrpSpPr>
        <p:grpSpPr>
          <a:xfrm>
            <a:off x="400474" y="0"/>
            <a:ext cx="8743525" cy="5143500"/>
            <a:chOff x="400474" y="0"/>
            <a:chExt cx="8743525" cy="5143500"/>
          </a:xfrm>
        </p:grpSpPr>
        <p:pic>
          <p:nvPicPr>
            <p:cNvPr id="259" name="Google Shape;259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571999" y="0"/>
              <a:ext cx="4572000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60" name="Google Shape;260;p20"/>
            <p:cNvSpPr/>
            <p:nvPr/>
          </p:nvSpPr>
          <p:spPr>
            <a:xfrm>
              <a:off x="4571999" y="0"/>
              <a:ext cx="4572000" cy="5143500"/>
            </a:xfrm>
            <a:custGeom>
              <a:rect b="b" l="l" r="r" t="t"/>
              <a:pathLst>
                <a:path extrusionOk="0" h="5143500" w="4572000">
                  <a:moveTo>
                    <a:pt x="0" y="0"/>
                  </a:moveTo>
                  <a:lnTo>
                    <a:pt x="4571999" y="0"/>
                  </a:lnTo>
                  <a:lnTo>
                    <a:pt x="4571999" y="5143499"/>
                  </a:lnTo>
                  <a:lnTo>
                    <a:pt x="0" y="51434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1E3E"/>
            </a:soli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" name="Google Shape;261;p20"/>
            <p:cNvSpPr/>
            <p:nvPr/>
          </p:nvSpPr>
          <p:spPr>
            <a:xfrm>
              <a:off x="400474" y="1012766"/>
              <a:ext cx="8183245" cy="3609340"/>
            </a:xfrm>
            <a:custGeom>
              <a:rect b="b" l="l" r="r" t="t"/>
              <a:pathLst>
                <a:path extrusionOk="0" h="3609340" w="8183245">
                  <a:moveTo>
                    <a:pt x="0" y="0"/>
                  </a:moveTo>
                  <a:lnTo>
                    <a:pt x="8182799" y="0"/>
                  </a:lnTo>
                </a:path>
                <a:path extrusionOk="0" h="3609340" w="8183245">
                  <a:moveTo>
                    <a:pt x="0" y="3609025"/>
                  </a:moveTo>
                  <a:lnTo>
                    <a:pt x="8182799" y="3609025"/>
                  </a:lnTo>
                </a:path>
              </a:pathLst>
            </a:custGeom>
            <a:noFill/>
            <a:ln cap="flat" cmpd="sng" w="19025">
              <a:solidFill>
                <a:srgbClr val="0B00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" name="Google Shape;262;p20"/>
            <p:cNvSpPr/>
            <p:nvPr/>
          </p:nvSpPr>
          <p:spPr>
            <a:xfrm>
              <a:off x="4567677" y="1012775"/>
              <a:ext cx="3940175" cy="0"/>
            </a:xfrm>
            <a:custGeom>
              <a:rect b="b" l="l" r="r" t="t"/>
              <a:pathLst>
                <a:path extrusionOk="0" h="120000" w="3940175">
                  <a:moveTo>
                    <a:pt x="0" y="0"/>
                  </a:moveTo>
                  <a:lnTo>
                    <a:pt x="3939899" y="0"/>
                  </a:lnTo>
                </a:path>
              </a:pathLst>
            </a:custGeom>
            <a:noFill/>
            <a:ln cap="flat" cmpd="sng" w="190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3" name="Google Shape;263;p20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>
                <a:solidFill>
                  <a:srgbClr val="FFFFFF"/>
                </a:solidFill>
              </a:rPr>
              <a:t>3</a:t>
            </a:r>
            <a:endParaRPr/>
          </a:p>
        </p:txBody>
      </p:sp>
      <p:pic>
        <p:nvPicPr>
          <p:cNvPr id="264" name="Google Shape;264;p20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20"/>
          <p:cNvSpPr txBox="1"/>
          <p:nvPr/>
        </p:nvSpPr>
        <p:spPr>
          <a:xfrm>
            <a:off x="4962375" y="1280646"/>
            <a:ext cx="3470400" cy="16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Sensibilidad política:</a:t>
            </a:r>
            <a:endParaRPr b="0" i="0" sz="13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508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Riesgos &amp; condiciones especiales:</a:t>
            </a:r>
            <a:endParaRPr b="1" i="0" sz="13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{{stakeholder_champion}}</a:t>
            </a:r>
            <a:endParaRPr b="0" i="0" sz="13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{{stakeholder_detractor}}</a:t>
            </a:r>
            <a:endParaRPr b="0" i="0" sz="13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{{filosofia_cliente}}</a:t>
            </a:r>
            <a:endParaRPr b="0" i="0" sz="13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{{riesgo_o_condicion_especial}}</a:t>
            </a:r>
            <a:endParaRPr b="0" i="0" sz="13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66" name="Google Shape;266;p20"/>
          <p:cNvSpPr txBox="1"/>
          <p:nvPr/>
        </p:nvSpPr>
        <p:spPr>
          <a:xfrm>
            <a:off x="4835025" y="345475"/>
            <a:ext cx="3933825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Crítico para el CSM</a:t>
            </a:r>
            <a:endParaRPr b="0" i="0" sz="30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0"/>
          <p:cNvSpPr txBox="1"/>
          <p:nvPr>
            <p:ph idx="1" type="body"/>
          </p:nvPr>
        </p:nvSpPr>
        <p:spPr>
          <a:xfrm>
            <a:off x="543600" y="1280646"/>
            <a:ext cx="3650700" cy="33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Discrepancias detectadas: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508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</a:pP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ELIMINAR este slide antes de presentar al cliente. Solo para uso interno del CSM.</a:t>
            </a:r>
            <a:endParaRPr sz="1300"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Discrepancia 1: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{{discrepancia_1}}</a:t>
            </a:r>
            <a:endParaRPr b="0" sz="13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Discrepancia 2: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{{discrepancia_2}}</a:t>
            </a:r>
            <a:endParaRPr b="0" sz="13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○"/>
            </a:pPr>
            <a:r>
              <a:rPr lang="en-US" sz="1100">
                <a:latin typeface="Inter"/>
                <a:ea typeface="Inter"/>
                <a:cs typeface="Inter"/>
                <a:sym typeface="Inter"/>
              </a:rPr>
              <a:t xml:space="preserve">{{discrepancia_3_opcional}} 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Pendiente 1: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{{pendiente_1}}</a:t>
            </a:r>
            <a:endParaRPr b="0" sz="13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Pendiente 2: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{{pendiente_2}}</a:t>
            </a:r>
            <a:endParaRPr b="0" sz="13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Pendiente 3: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{{pendiente_3}}</a:t>
            </a:r>
            <a:endParaRPr b="0" sz="13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descr="$PPTXTitle" id="256" name="Google Shape;256;p20"/>
          <p:cNvSpPr txBox="1"/>
          <p:nvPr>
            <p:ph type="title"/>
          </p:nvPr>
        </p:nvSpPr>
        <p:spPr>
          <a:xfrm>
            <a:off x="399550" y="345475"/>
            <a:ext cx="4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⚠️ PRE-KICKOFF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7" name="Google Shape;257;p20"/>
          <p:cNvSpPr/>
          <p:nvPr/>
        </p:nvSpPr>
        <p:spPr>
          <a:xfrm>
            <a:off x="4567677" y="4621800"/>
            <a:ext cx="3940175" cy="0"/>
          </a:xfrm>
          <a:custGeom>
            <a:rect b="b" l="l" r="r" t="t"/>
            <a:pathLst>
              <a:path extrusionOk="0" h="120000" w="3940175">
                <a:moveTo>
                  <a:pt x="0" y="0"/>
                </a:moveTo>
                <a:lnTo>
                  <a:pt x="3939899" y="0"/>
                </a:lnTo>
              </a:path>
            </a:pathLst>
          </a:custGeom>
          <a:noFill/>
          <a:ln cap="flat" cmpd="sng" w="190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8" name="Google Shape;258;p20"/>
          <p:cNvGrpSpPr/>
          <p:nvPr/>
        </p:nvGrpSpPr>
        <p:grpSpPr>
          <a:xfrm>
            <a:off x="400474" y="0"/>
            <a:ext cx="8743525" cy="5143500"/>
            <a:chOff x="400474" y="0"/>
            <a:chExt cx="8743525" cy="5143500"/>
          </a:xfrm>
        </p:grpSpPr>
        <p:pic>
          <p:nvPicPr>
            <p:cNvPr id="259" name="Google Shape;259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571999" y="0"/>
              <a:ext cx="4572000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60" name="Google Shape;260;p20"/>
            <p:cNvSpPr/>
            <p:nvPr/>
          </p:nvSpPr>
          <p:spPr>
            <a:xfrm>
              <a:off x="4571999" y="0"/>
              <a:ext cx="4572000" cy="5143500"/>
            </a:xfrm>
            <a:custGeom>
              <a:rect b="b" l="l" r="r" t="t"/>
              <a:pathLst>
                <a:path extrusionOk="0" h="5143500" w="4572000">
                  <a:moveTo>
                    <a:pt x="0" y="0"/>
                  </a:moveTo>
                  <a:lnTo>
                    <a:pt x="4571999" y="0"/>
                  </a:lnTo>
                  <a:lnTo>
                    <a:pt x="4571999" y="5143499"/>
                  </a:lnTo>
                  <a:lnTo>
                    <a:pt x="0" y="51434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1E3E"/>
            </a:soli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" name="Google Shape;261;p20"/>
            <p:cNvSpPr/>
            <p:nvPr/>
          </p:nvSpPr>
          <p:spPr>
            <a:xfrm>
              <a:off x="400474" y="1012766"/>
              <a:ext cx="8183245" cy="3609340"/>
            </a:xfrm>
            <a:custGeom>
              <a:rect b="b" l="l" r="r" t="t"/>
              <a:pathLst>
                <a:path extrusionOk="0" h="3609340" w="8183245">
                  <a:moveTo>
                    <a:pt x="0" y="0"/>
                  </a:moveTo>
                  <a:lnTo>
                    <a:pt x="8182799" y="0"/>
                  </a:lnTo>
                </a:path>
                <a:path extrusionOk="0" h="3609340" w="8183245">
                  <a:moveTo>
                    <a:pt x="0" y="3609025"/>
                  </a:moveTo>
                  <a:lnTo>
                    <a:pt x="8182799" y="3609025"/>
                  </a:lnTo>
                </a:path>
              </a:pathLst>
            </a:custGeom>
            <a:noFill/>
            <a:ln cap="flat" cmpd="sng" w="19025">
              <a:solidFill>
                <a:srgbClr val="0B00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" name="Google Shape;262;p20"/>
            <p:cNvSpPr/>
            <p:nvPr/>
          </p:nvSpPr>
          <p:spPr>
            <a:xfrm>
              <a:off x="4567677" y="1012775"/>
              <a:ext cx="3940175" cy="0"/>
            </a:xfrm>
            <a:custGeom>
              <a:rect b="b" l="l" r="r" t="t"/>
              <a:pathLst>
                <a:path extrusionOk="0" h="120000" w="3940175">
                  <a:moveTo>
                    <a:pt x="0" y="0"/>
                  </a:moveTo>
                  <a:lnTo>
                    <a:pt x="3939899" y="0"/>
                  </a:lnTo>
                </a:path>
              </a:pathLst>
            </a:custGeom>
            <a:noFill/>
            <a:ln cap="flat" cmpd="sng" w="190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3" name="Google Shape;263;p20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>
                <a:solidFill>
                  <a:srgbClr val="FFFFFF"/>
                </a:solidFill>
              </a:rPr>
              <a:t>3</a:t>
            </a:r>
            <a:endParaRPr/>
          </a:p>
        </p:txBody>
      </p:sp>
      <p:pic>
        <p:nvPicPr>
          <p:cNvPr id="264" name="Google Shape;264;p20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20"/>
          <p:cNvSpPr txBox="1"/>
          <p:nvPr/>
        </p:nvSpPr>
        <p:spPr>
          <a:xfrm>
            <a:off x="4962375" y="1280646"/>
            <a:ext cx="3470400" cy="16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Sensibilidad política:</a:t>
            </a:r>
            <a:endParaRPr b="0" i="0" sz="13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508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Riesgos &amp; condiciones especiales:</a:t>
            </a:r>
            <a:endParaRPr b="1" i="0" sz="13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{{stakeholder_champion}}</a:t>
            </a:r>
            <a:endParaRPr b="0" i="0" sz="13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{{stakeholder_detractor}}</a:t>
            </a:r>
            <a:endParaRPr b="0" i="0" sz="13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{{filosofia_cliente}}</a:t>
            </a:r>
            <a:endParaRPr b="0" i="0" sz="13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{{riesgo_o_condicion_especial}}</a:t>
            </a:r>
            <a:endParaRPr b="0" i="0" sz="13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66" name="Google Shape;266;p20"/>
          <p:cNvSpPr txBox="1"/>
          <p:nvPr/>
        </p:nvSpPr>
        <p:spPr>
          <a:xfrm>
            <a:off x="4835025" y="345475"/>
            <a:ext cx="3933825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Crítico para el CSM</a:t>
            </a:r>
            <a:endParaRPr b="0" i="0" sz="30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
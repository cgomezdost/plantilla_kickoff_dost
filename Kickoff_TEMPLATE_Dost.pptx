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9144000" cy="5143500"/>
  <p:embeddedFontLst>
    <p:embeddedFont>
      <p:font typeface="Inter"/>
      <p:regular r:id="rId19"/>
      <p:bold r:id="rId20"/>
      <p:italic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-regular.fntdata"/><Relationship Id="rId18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PORTADA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Esta es la apertura. No hace falta más que un saludo breve.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 objetivo del kickoff completo: 30 minutos (Fernando dixit).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Recuerda: el kickoff NO es una reunión funcional. Tú diriges, el cliente escucha y valida.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ANTES DEL KICKOFF — CHECKLIST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contrato — confirmados módulos, transacciones, proveedores, usuarios, integración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handover de Sales (o correo/notas equivalentes)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Leída la VDT (si existe)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Reunión interna previa con: AM, Tech Consultant, Partner (si aplica)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Riesgos identificados y comunicados internamente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Plan de trabajo (Gantt) ajustado a fechas realistas — no a las del comercial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Partner alineado: quién hace qué, qué espera del cliente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PROYECTO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Cliente: Serigrafic SA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[Confirmar con AM]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Prioridad estratégica: [Alta/Media/Baja — del handover]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Caso de referencia potencial: [Sí/No — del handover]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AGENDA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los 6 puntos rápidamente. No expliques cada uno.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"Hoy vamos a alinear todos en lo que ya está acordado y arrancar formalmente el proyecto."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menos de 1 minuto en este slide.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ALCANCE Y COMPROMISO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ESTE ES EL SLIDE MÁS IMPORTANTE DEL KICKOFF (15 minutos según Fernando).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mensaje: "Estos son los términos del proyecto. Vamos a alinearnos uno a uno."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CASO DE USO: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Recita lo contratado: tipo de documentos, volumen, integración, duración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Valida con el cliente: "¿Es exactamente esto lo que esperabais?"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Si dice que NO o que esperaba otra cosa: NO renegocies aquí. Anótalo y di "déjame que lo revise internamente con el equipo comercial y te respondo."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COMPROMISO: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bloque de la derecha pone las reglas del juego: Dost es SaaS, no consultora.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Cambios fuera del documento funcional → Premium Care (con coste).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Subraya la agilidad: cumplimiento de fechas, respuestas, documentación, pruebas.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VALIDACIONES PENDIENTES (⚠️):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uses la palabra "riesgo" delante del cliente. Usa "puntos a validar técnicamente antes de comprometer fechas finales".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"Hemos detectado estas complejidades técnicas en la fase de pre-venta. Antes de cerrar el plan en detalle, las validamos conjuntamente."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RIESGOS INTERNOS (NO compartir con cliente)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ALTO: ALTO — Stakeholder único en cliente: solo Sema (CFO) identificado. Sin contacto IT propio del cliente. Bus factor alto. Dependencia 100% de Milmoh para todo lo del ERP. Si Sema delega o cambia de prioridad, no hay backup interno.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RIESGO ALTO: 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MEDIO: MEDIO — Sin VDT formal + ERP Query (poco común): la calidad de la exportación CSV depende de plantillas a medida. Nadie ha verificado que Query acepte el formato que Dost genera. // MEDIO — Dependencia técnica de Milmoh sin SLA acordado: si tardan en configurar el lado ERP, el onboarding Dost se bloquea. Pedir compromiso de disponibilidad en S1-S2.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BAJO: BAJO — Volumen contratado sobredimensionado (5.000 contratadas vs ≈3.600 reales, +39%). Riesgo de percepción de sobrecoste del cliente. // BAJO — Posible upsell albaranes mencionado en handover (sección 10). Puede crear expectativa del cliente de activación 'automática' futura. Gestionar mensaje en kickoff: ahora SOLO extracción de facturas; conciliación queda como decisión posterior tras éxito.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CLÁUSULAS CONTRACTUALES CLAVE A RECORDAR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🔔 CONDICIONES CONTRACTUALES ESPECIALES: (1) Facturación a 45 días desde firma — vencimiento aprox. 01/06/2026 (no 'en el momento de contratación' como es estándar en cláusula 4.3). (2) Onboarding 'Softboarding' — modalidad reducida, sin co-creación intensiva. (3) Caso de uso 'extracción de cabeceras y detalle de impuestos' — sin conciliación, sin líneas completas. (4) 1 único usuario administrador, 1 entidad, SEPA 30d (estándar).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PLAN DE TRABAJO (GANTT)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Las semanas son RELATIVAS (S1, S2...) no fechas absolutas. La fecha 0 (S1) se acuerda al final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Cita la nota al pie en alto: "Todo lo que no esté en este plan, no forma parte del proyecto de onboarding."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Gantt comercial inicial era muy optimista, AHORA es el momento de ajustarlo: "Sobre el cronograma inicial, dado que [razón], las fechas serán [esto]." NO cambies todo, solo lo necesario.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5-8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DESVIACIONES vs CRONOGRAMA COMERCIAL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Contrato cláusula 1.4 incluye 'Jornada de consultoría para decidir tipo de conexión'. Handover ya cierra: ERP Query + CSV. La jornada se da por consumida en fase comercial. NO presentarla como pendiente al cliente en kickoff — el cliente puede sentirse 'descontado' algo que ya hemos cerrado entre AE y CSM.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DEL PARTNER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⚠️ Milmoh es dependencia clave para configuración del lado ERP Query. SIN SLA acordado entre Dost y Milmoh. Pedir disponibilidad y compromiso de Juanjo Mila / Elia Robles en S1-S2 para no bloquear S3-S6 (configuración + entrenamiento). ⚠️ Confirmar internamente con Sales/Pol si Milmoh es partner conocido de Dost (handover dice 'están en contacto con Pol para futuros proyectos') o solo partner del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HITOS CRÍTICOS NEGOCIADOS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Fecha objetivo go-live: Inicio servicio contractual: 20/04/2026 (ya activo). Onboarding comunicado en handover: 8 semanas desde kickoff. Con kickoff el 29/05/2026 → go-live aprox. 24/07/2026.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Validación funcional: ⚠️ Pendiente — fijar tras kickoff. Recordatorio cláusula 2.2: cliente tiene 48h desde envío del Documento Funcional Inicial para feedback escrito; si no responde, se da por aceptado. Avisar a Sema de este plazo.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Constraints del cliente: Cliente en Aspe (Alicante). Desplazamientos NO incluidos en contrato (cláusula 4.5). Cualquier visita presencial requiere aprobación previa del cliente y se factura aparte. Por defecto: 100% remoto.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INFORMACIÓN NECESARIA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Estos son los DEBERES del cliente. Sin estos inputs, no podemos arrancar.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Pon fecha a cada deber: "Esto lo necesitamos antes del [fecha]."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Pregunta: "¿Quién del equipo se encarga de prepararlo?"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cliente no se compromete con fechas concretas, esto es una red flag — anótalo.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RESPONSABLES POR ÍTEM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 (CFO) responsable global del lado cliente. Para tema ERP/CSV: Juanjo Mila / Elia Robles (Milmoh). Para muestras de facturas y selección de los 10 proveedores: equipo financiero de Serigrafic a designar por Sema.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CRÍTICAS QUE PUEDEN BLOQUEAR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(1) Estructura CSV del ERP Query → depende de Milmoh — sin esto, no podemos configurar plantillas de volcado. (2) Lista de los 10 proveedores para entrenamiento → depende del cliente. (3) Flujo de aprobación (5-6 agentes, reglas, niveles) → depende del cliente, decisión en sesión funcional. (4) Muestras reales de facturas (PDFs) →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PRÓXIMOS PASOS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Cierre del kickoff. Aquí se acuerdan FECHAS CONCRETAS, no genéricas.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Reunión de seguimiento semanal: día y hora fijos.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Primera reunión funcional: fecha exacta antes de salir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 final: "Os enviamos un acta breve con todo esto en las próximas 24h."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ACCIONES POST-KICKOFF (CSM)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Enviar acta de kickoff en 24h con: alcance confirmado, plan acordado, deberes del cliente y fechas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Crear evento recurrente de seguimiento en calendario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Confirmar fecha primera reunión funcional con todos los asistentes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Compartir documento con preguntas funcionales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Notificar al equipo interno (Tech, AM, Product) del arranque oficial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Subir acta y plantilla a la carpeta del cliente en Drive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DE CIERRE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Cierra con calidez. "Gracias por la confianza, nos vemos pronto."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prolongues. Si el cliente quiere charlar, perfecto, pero la presentación formal termina aquí.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000" u="none" cap="none" strike="noStrike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9.png"/><Relationship Id="rId5" Type="http://schemas.openxmlformats.org/officeDocument/2006/relationships/image" Target="../media/image16.jpg"/><Relationship Id="rId6" Type="http://schemas.openxmlformats.org/officeDocument/2006/relationships/image" Target="../media/image4.jpg"/><Relationship Id="rId7" Type="http://schemas.openxmlformats.org/officeDocument/2006/relationships/image" Target="../media/image8.png"/><Relationship Id="rId8" Type="http://schemas.openxmlformats.org/officeDocument/2006/relationships/image" Target="../media/image6.jp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jpg"/><Relationship Id="rId4" Type="http://schemas.openxmlformats.org/officeDocument/2006/relationships/image" Target="../media/image14.jpg"/><Relationship Id="rId5" Type="http://schemas.openxmlformats.org/officeDocument/2006/relationships/image" Target="../media/image12.png"/><Relationship Id="rId6" Type="http://schemas.openxmlformats.org/officeDocument/2006/relationships/image" Target="../media/image11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16.jpg"/><Relationship Id="rId6" Type="http://schemas.openxmlformats.org/officeDocument/2006/relationships/image" Target="../media/image4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15.jpg"/><Relationship Id="rId5" Type="http://schemas.openxmlformats.org/officeDocument/2006/relationships/image" Target="../media/image18.jpg"/><Relationship Id="rId6" Type="http://schemas.openxmlformats.org/officeDocument/2006/relationships/image" Target="../media/image23.jp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at {{cliente_nombre}}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Google Shape;54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Inter Medium"/>
                <a:ea typeface="Inter Medium"/>
                <a:cs typeface="Inter Medium"/>
                <a:sym typeface="Inter Medium"/>
              </a:rPr>
              <a:t>Kick-off meeting {{fecha_kickoff}}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55" name="Google Shape;55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Contenido de la sesión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Alcance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1. Presentación del equipo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0" title="20210907_170621.jpg"/>
          <p:cNvPicPr preferRelativeResize="0"/>
          <p:nvPr/>
        </p:nvPicPr>
        <p:blipFill rotWithShape="1">
          <a:blip r:embed="rId5">
            <a:alphaModFix/>
          </a:blip>
          <a:stretch>
            <a:fillRect/>
          </a:stretch>
        </p:blipFill>
        <p:spPr>
          <a:xfrm>
            <a:off x="539575" y="169252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9" name="Google Shape;79;p10" title="a62c8b21-0e69-46a9-b029-ad32e1bb5625.JPG"/>
          <p:cNvPicPr preferRelativeResize="0"/>
          <p:nvPr/>
        </p:nvPicPr>
        <p:blipFill rotWithShape="1">
          <a:blip r:embed="rId6">
            <a:alphaModFix/>
          </a:blip>
          <a:stretch>
            <a:fillRect/>
          </a:stretch>
        </p:blipFill>
        <p:spPr>
          <a:xfrm>
            <a:off x="539575" y="321957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0" name="Google Shape;80;p10" title="image.png"/>
          <p:cNvPicPr preferRelativeResize="0"/>
          <p:nvPr/>
        </p:nvPicPr>
        <p:blipFill rotWithShape="1">
          <a:blip r:embed="rId7">
            <a:alphaModFix/>
          </a:blip>
          <a:stretch>
            <a:fillRect/>
          </a:stretch>
        </p:blipFill>
        <p:spPr>
          <a:xfrm>
            <a:off x="4698963" y="169252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1" name="Google Shape;81;p10" title="Ecosistema Tech-12.jpg"/>
          <p:cNvPicPr preferRelativeResize="0"/>
          <p:nvPr/>
        </p:nvPicPr>
        <p:blipFill rotWithShape="1">
          <a:blip r:embed="rId8">
            <a:alphaModFix/>
          </a:blip>
          <a:stretch>
            <a:fillRect/>
          </a:stretch>
        </p:blipFill>
        <p:spPr>
          <a:xfrm>
            <a:off x="4698950" y="321957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{{cliente_descripcion}}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País o países donde opera: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{{cliente_pais}}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aproximado de documentos anuales: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{{documentos_anuales}}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1100">
                <a:latin typeface="Inter"/>
                <a:ea typeface="Inter"/>
                <a:cs typeface="Inter"/>
                <a:sym typeface="Inter"/>
              </a:rPr>
              <a:t xml:space="preserve">{{facturas_anuales}}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ERP: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{{erp_nombre}}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Partner: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{{partner_implantador}}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Proveedores: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{{num_proveedores}}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Contexto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Objetivos prioritarios del proyecto</a:t>
            </a:r>
            <a:endParaRPr b="0" i="0" sz="11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Caso de Uso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{{alcance_bullet_1_resto}}</a:t>
            </a:r>
            <a:endParaRPr b="0"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Inter"/>
              <a:buChar char="●"/>
            </a:pPr>
            <a:r>
              <a:rPr b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{{alcance_bullet_2_resto}}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{{alcance_bullet_3_resto}}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{{alcance_bullet_4_resto}}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. Alcance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150000"/>
            <a:ext cx="3470400" cy="3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 {{cliente_nombre}} &amp; Dost</a:t>
            </a:r>
            <a:endParaRPr b="0" i="0" sz="13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Compartir documentación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31" name="Google Shape;131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 xml:space="preserve">4. Plan de trabajo estimado 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33" name="Google Shape;133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* Todo lo </a:t>
            </a:r>
            <a:r>
              <a:rPr b="0" i="0" lang="en-US" sz="8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que</a:t>
            </a: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Txt1100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Fase</a:t>
            </a:r>
          </a:p>
        </p:txBody>
      </p:sp>
      <p:sp>
        <p:nvSpPr>
          <p:cNvPr id="1101" name="Txt1101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Acciones</a:t>
            </a:r>
          </a:p>
        </p:txBody>
      </p:sp>
      <p:sp>
        <p:nvSpPr>
          <p:cNvPr id="1102" name="Txt1102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S1</a:t>
            </a:r>
          </a:p>
        </p:txBody>
      </p:sp>
      <p:sp>
        <p:nvSpPr>
          <p:cNvPr id="1103" name="Txt110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S2</a:t>
            </a:r>
          </a:p>
        </p:txBody>
      </p:sp>
      <p:sp>
        <p:nvSpPr>
          <p:cNvPr id="1104" name="Txt1104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S3</a:t>
            </a:r>
          </a:p>
        </p:txBody>
      </p:sp>
      <p:sp>
        <p:nvSpPr>
          <p:cNvPr id="1105" name="Txt1105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S4</a:t>
            </a:r>
          </a:p>
        </p:txBody>
      </p:sp>
      <p:sp>
        <p:nvSpPr>
          <p:cNvPr id="1106" name="Txt1106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S5</a:t>
            </a:r>
          </a:p>
        </p:txBody>
      </p:sp>
      <p:sp>
        <p:nvSpPr>
          <p:cNvPr id="1107" name="Txt1107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S6</a:t>
            </a:r>
          </a:p>
        </p:txBody>
      </p:sp>
      <p:sp>
        <p:nvSpPr>
          <p:cNvPr id="1108" name="Txt1108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S7</a:t>
            </a:r>
          </a:p>
        </p:txBody>
      </p:sp>
      <p:sp>
        <p:nvSpPr>
          <p:cNvPr id="1109" name="Txt1109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S8</a:t>
            </a:r>
          </a:p>
        </p:txBody>
      </p:sp>
      <p:sp>
        <p:nvSpPr>
          <p:cNvPr id="1110" name="Rect1110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1" name="Txt1111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1: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Análisis funcional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del proyecto</a:t>
            </a:r>
          </a:p>
        </p:txBody>
      </p:sp>
      <p:sp>
        <p:nvSpPr>
          <p:cNvPr id="1112" name="Txt1112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Reunión de kick off del proyecto</a:t>
            </a:r>
          </a:p>
        </p:txBody>
      </p:sp>
      <p:sp>
        <p:nvSpPr>
          <p:cNvPr id="1113" name="Rect11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4" name="Txt1114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Diseño de los requisitos de extracción</a:t>
            </a:r>
          </a:p>
        </p:txBody>
      </p:sp>
      <p:sp>
        <p:nvSpPr>
          <p:cNvPr id="1115" name="Rect1115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6" name="Txt1116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Aportación de información necesaria</a:t>
            </a:r>
          </a:p>
        </p:txBody>
      </p:sp>
      <p:sp>
        <p:nvSpPr>
          <p:cNvPr id="1117" name="Rect1117"/>
          <p:cNvSpPr/>
          <p:nvPr/>
        </p:nvSpPr>
        <p:spPr>
          <a:xfrm>
            <a:off x="4276875" y="186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8" name="Txt1118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y firma del documento funcional</a:t>
            </a:r>
          </a:p>
        </p:txBody>
      </p:sp>
      <p:sp>
        <p:nvSpPr>
          <p:cNvPr id="1119" name="Rect1119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0" name="Diamond1120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21" name="Rect1121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2" name="Txt1122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2: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Configuración y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entrenamiento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 proveedores</a:t>
            </a:r>
          </a:p>
        </p:txBody>
      </p:sp>
      <p:sp>
        <p:nvSpPr>
          <p:cNvPr id="1123" name="Txt112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Creación del entorno Dost</a:t>
            </a:r>
          </a:p>
        </p:txBody>
      </p:sp>
      <p:sp>
        <p:nvSpPr>
          <p:cNvPr id="1124" name="Rect1124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5" name="Txt1125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conexión {{gantt_erp_conector}}</a:t>
            </a:r>
          </a:p>
        </p:txBody>
      </p:sp>
      <p:sp>
        <p:nvSpPr>
          <p:cNvPr id="1126" name="Rect1126"/>
          <p:cNvSpPr/>
          <p:nvPr/>
        </p:nvSpPr>
        <p:spPr>
          <a:xfrm>
            <a:off x="5439375" y="278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7" name="Txt1127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Entrenamiento de proveedores ({{gantt_num_proveedores}})</a:t>
            </a:r>
          </a:p>
        </p:txBody>
      </p:sp>
      <p:sp>
        <p:nvSpPr>
          <p:cNvPr id="1128" name="Rect1128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9" name="Diamond1129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0" name="Rect1130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1" name="Txt1131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3: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Formación,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Pruebas y puesta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 producción</a:t>
            </a:r>
          </a:p>
        </p:txBody>
      </p:sp>
      <p:sp>
        <p:nvSpPr>
          <p:cNvPr id="1132" name="Txt1132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Formación en el uso de la plataforma</a:t>
            </a:r>
          </a:p>
        </p:txBody>
      </p:sp>
      <p:sp>
        <p:nvSpPr>
          <p:cNvPr id="1133" name="Rect1133"/>
          <p:cNvSpPr/>
          <p:nvPr/>
        </p:nvSpPr>
        <p:spPr>
          <a:xfrm>
            <a:off x="6601875" y="342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4" name="Txt1134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Pruebas de extracción y conciliación</a:t>
            </a:r>
          </a:p>
        </p:txBody>
      </p:sp>
      <p:sp>
        <p:nvSpPr>
          <p:cNvPr id="1135" name="Rect1135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6" name="Txt1136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Puesta en producción y traspaso a Soporte</a:t>
            </a:r>
          </a:p>
        </p:txBody>
      </p:sp>
      <p:sp>
        <p:nvSpPr>
          <p:cNvPr id="1137" name="Rect1137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8" name="Diamond1138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9" name="Rect1139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0" name="Txt1140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Seguimiento</a:t>
            </a:r>
          </a:p>
        </p:txBody>
      </p:sp>
      <p:sp>
        <p:nvSpPr>
          <p:cNvPr id="1141" name="Txt1141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Reuniones semanales de seguimiento</a:t>
            </a:r>
          </a:p>
        </p:txBody>
      </p:sp>
      <p:sp>
        <p:nvSpPr>
          <p:cNvPr id="1142" name="Rect1142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3" name="Diamond114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44" name="Txt1144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Hito clave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5. Información necesaria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Envío en los próximos días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{{info_envio_3}}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{{info_envio_4}}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 decidir durante las reuniones de diseño funcional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6. Próximos pasos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300000"/>
            <a:ext cx="7494900" cy="3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1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reuniones de seguimiento semanal y personas involucradas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2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primeras reuniones funcionales esta semana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3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4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Fernando Martín</a:t>
            </a:r>
            <a:endParaRPr sz="12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CO-Founder</a:t>
            </a:r>
            <a:endParaRPr sz="9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 xml:space="preserve">{{discrepancia_3_opcional}}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{{pendiente_3}}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
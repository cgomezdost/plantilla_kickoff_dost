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9144000" cy="5143500"/>
  <p:embeddedFontLst>
    <p:embeddedFont>
      <p:font typeface="DM Sans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DMSans-regular.fntdata"/><Relationship Id="rId11" Type="http://schemas.openxmlformats.org/officeDocument/2006/relationships/slide" Target="slides/slide6.xml"/><Relationship Id="rId22" Type="http://schemas.openxmlformats.org/officeDocument/2006/relationships/font" Target="fonts/DMSans-italic.fntdata"/><Relationship Id="rId10" Type="http://schemas.openxmlformats.org/officeDocument/2006/relationships/slide" Target="slides/slide5.xml"/><Relationship Id="rId21" Type="http://schemas.openxmlformats.org/officeDocument/2006/relationships/font" Target="fonts/DMSans-bold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font" Target="fonts/DMSans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  <a:defRPr b="0" i="0" sz="11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○"/>
              <a:defRPr b="0" i="0" sz="11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■"/>
              <a:defRPr b="0" i="0" sz="11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  <a:defRPr b="0" i="0" sz="11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○"/>
              <a:defRPr b="0" i="0" sz="11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■"/>
              <a:defRPr b="0" i="0" sz="11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  <a:defRPr b="0" i="0" sz="11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○"/>
              <a:defRPr b="0" i="0" sz="11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■"/>
              <a:defRPr b="0" i="0" sz="11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:notes"/>
          <p:cNvSpPr/>
          <p:nvPr>
            <p:ph idx="2" type="sldImg"/>
          </p:nvPr>
        </p:nvSpPr>
        <p:spPr>
          <a:xfrm>
            <a:off x="508400" y="385763"/>
            <a:ext cx="81279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1:notes"/>
          <p:cNvSpPr txBox="1"/>
          <p:nvPr>
            <p:ph idx="1" type="body"/>
          </p:nvPr>
        </p:nvSpPr>
        <p:spPr>
          <a:xfrm>
            <a:off x="914400" y="2443163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</a:pPr>
            <a:r>
              <a:t/>
            </a:r>
            <a:endParaRPr/>
          </a:p>
        </p:txBody>
      </p:sp>
      <p:sp>
        <p:nvSpPr>
          <p:cNvPr id="59" name="Google Shape;59;p2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</a:pPr>
            <a:r>
              <a:t/>
            </a:r>
            <a:endParaRPr/>
          </a:p>
        </p:txBody>
      </p:sp>
      <p:sp>
        <p:nvSpPr>
          <p:cNvPr id="69" name="Google Shape;69;p3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</a:pPr>
            <a:r>
              <a:t/>
            </a:r>
            <a:endParaRPr/>
          </a:p>
        </p:txBody>
      </p:sp>
      <p:sp>
        <p:nvSpPr>
          <p:cNvPr id="88" name="Google Shape;88;p4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5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</a:pPr>
            <a:r>
              <a:t/>
            </a:r>
            <a:endParaRPr/>
          </a:p>
        </p:txBody>
      </p:sp>
      <p:sp>
        <p:nvSpPr>
          <p:cNvPr id="104" name="Google Shape;104;p5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6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</a:pPr>
            <a:r>
              <a:t/>
            </a:r>
            <a:endParaRPr/>
          </a:p>
        </p:txBody>
      </p:sp>
      <p:sp>
        <p:nvSpPr>
          <p:cNvPr id="120" name="Google Shape;120;p6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7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</a:pPr>
            <a:r>
              <a:t/>
            </a:r>
            <a:endParaRPr/>
          </a:p>
        </p:txBody>
      </p:sp>
      <p:sp>
        <p:nvSpPr>
          <p:cNvPr id="182" name="Google Shape;182;p7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8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</a:pPr>
            <a:r>
              <a:t/>
            </a:r>
            <a:endParaRPr/>
          </a:p>
        </p:txBody>
      </p:sp>
      <p:sp>
        <p:nvSpPr>
          <p:cNvPr id="192" name="Google Shape;192;p8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/>
          <p:nvPr>
            <p:ph idx="2" type="sldImg"/>
          </p:nvPr>
        </p:nvSpPr>
        <p:spPr>
          <a:xfrm>
            <a:off x="508400" y="385763"/>
            <a:ext cx="81279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p9:notes"/>
          <p:cNvSpPr txBox="1"/>
          <p:nvPr>
            <p:ph idx="1" type="body"/>
          </p:nvPr>
        </p:nvSpPr>
        <p:spPr>
          <a:xfrm>
            <a:off x="914400" y="2443163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0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</a:pPr>
            <a:r>
              <a:t/>
            </a:r>
            <a:endParaRPr/>
          </a:p>
        </p:txBody>
      </p:sp>
      <p:sp>
        <p:nvSpPr>
          <p:cNvPr id="209" name="Google Shape;209;p10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1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</a:pPr>
            <a:r>
              <a:t/>
            </a:r>
            <a:endParaRPr/>
          </a:p>
        </p:txBody>
      </p:sp>
      <p:sp>
        <p:nvSpPr>
          <p:cNvPr id="224" name="Google Shape;224;p11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2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</a:pPr>
            <a:r>
              <a:t/>
            </a:r>
            <a:endParaRPr/>
          </a:p>
        </p:txBody>
      </p:sp>
      <p:sp>
        <p:nvSpPr>
          <p:cNvPr id="238" name="Google Shape;238;p12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3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</a:pPr>
            <a:r>
              <a:t/>
            </a:r>
            <a:endParaRPr/>
          </a:p>
        </p:txBody>
      </p:sp>
      <p:sp>
        <p:nvSpPr>
          <p:cNvPr id="253" name="Google Shape;253;p13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4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4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72458" y="4663217"/>
            <a:ext cx="5487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body"/>
          </p:nvPr>
        </p:nvSpPr>
        <p:spPr>
          <a:xfrm>
            <a:off x="357613" y="1060087"/>
            <a:ext cx="8209280" cy="336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543600" y="1422146"/>
            <a:ext cx="3650615" cy="2625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500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2" type="body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showMasterSp="0">
  <p:cSld name="Title Only">
    <p:bg>
      <p:bgPr>
        <a:solidFill>
          <a:schemeClr val="lt1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3999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6"/>
          <p:cNvSpPr/>
          <p:nvPr/>
        </p:nvSpPr>
        <p:spPr>
          <a:xfrm>
            <a:off x="0" y="0"/>
            <a:ext cx="9144000" cy="5143500"/>
          </a:xfrm>
          <a:custGeom>
            <a:rect b="b" l="l" r="r" t="t"/>
            <a:pathLst>
              <a:path extrusionOk="0" h="5143500" w="9144000">
                <a:moveTo>
                  <a:pt x="0" y="0"/>
                </a:moveTo>
                <a:lnTo>
                  <a:pt x="9143999" y="0"/>
                </a:lnTo>
                <a:lnTo>
                  <a:pt x="9143999" y="5143499"/>
                </a:lnTo>
                <a:lnTo>
                  <a:pt x="0" y="5143499"/>
                </a:lnTo>
                <a:lnTo>
                  <a:pt x="0" y="0"/>
                </a:lnTo>
                <a:close/>
              </a:path>
            </a:pathLst>
          </a:cu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5" name="Google Shape;3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79019" y="2002917"/>
            <a:ext cx="3336280" cy="1513167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36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79563" y="2069848"/>
            <a:ext cx="3135191" cy="131243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6"/>
          <p:cNvSpPr/>
          <p:nvPr/>
        </p:nvSpPr>
        <p:spPr>
          <a:xfrm>
            <a:off x="2848001" y="1938394"/>
            <a:ext cx="3374390" cy="1398270"/>
          </a:xfrm>
          <a:custGeom>
            <a:rect b="b" l="l" r="r" t="t"/>
            <a:pathLst>
              <a:path extrusionOk="0" h="1398270" w="3374390">
                <a:moveTo>
                  <a:pt x="1583554" y="1398208"/>
                </a:moveTo>
                <a:lnTo>
                  <a:pt x="1518547" y="1397512"/>
                </a:lnTo>
                <a:lnTo>
                  <a:pt x="1454241" y="1395790"/>
                </a:lnTo>
                <a:lnTo>
                  <a:pt x="1390681" y="1393061"/>
                </a:lnTo>
                <a:lnTo>
                  <a:pt x="1327917" y="1389342"/>
                </a:lnTo>
                <a:lnTo>
                  <a:pt x="1265995" y="1384652"/>
                </a:lnTo>
                <a:lnTo>
                  <a:pt x="1204963" y="1379008"/>
                </a:lnTo>
                <a:lnTo>
                  <a:pt x="1144870" y="1372429"/>
                </a:lnTo>
                <a:lnTo>
                  <a:pt x="1085762" y="1364933"/>
                </a:lnTo>
                <a:lnTo>
                  <a:pt x="1027687" y="1356537"/>
                </a:lnTo>
                <a:lnTo>
                  <a:pt x="970693" y="1347260"/>
                </a:lnTo>
                <a:lnTo>
                  <a:pt x="914828" y="1337119"/>
                </a:lnTo>
                <a:lnTo>
                  <a:pt x="860140" y="1326134"/>
                </a:lnTo>
                <a:lnTo>
                  <a:pt x="806675" y="1314320"/>
                </a:lnTo>
                <a:lnTo>
                  <a:pt x="754482" y="1301698"/>
                </a:lnTo>
                <a:lnTo>
                  <a:pt x="703608" y="1288283"/>
                </a:lnTo>
                <a:lnTo>
                  <a:pt x="654102" y="1274096"/>
                </a:lnTo>
                <a:lnTo>
                  <a:pt x="606010" y="1259153"/>
                </a:lnTo>
                <a:lnTo>
                  <a:pt x="559380" y="1243473"/>
                </a:lnTo>
                <a:lnTo>
                  <a:pt x="514261" y="1227074"/>
                </a:lnTo>
                <a:lnTo>
                  <a:pt x="470699" y="1209973"/>
                </a:lnTo>
                <a:lnTo>
                  <a:pt x="428743" y="1192189"/>
                </a:lnTo>
                <a:lnTo>
                  <a:pt x="388439" y="1173740"/>
                </a:lnTo>
                <a:lnTo>
                  <a:pt x="349837" y="1154644"/>
                </a:lnTo>
                <a:lnTo>
                  <a:pt x="312983" y="1134918"/>
                </a:lnTo>
                <a:lnTo>
                  <a:pt x="277925" y="1114581"/>
                </a:lnTo>
                <a:lnTo>
                  <a:pt x="244710" y="1093650"/>
                </a:lnTo>
                <a:lnTo>
                  <a:pt x="184003" y="1050082"/>
                </a:lnTo>
                <a:lnTo>
                  <a:pt x="131244" y="1004356"/>
                </a:lnTo>
                <a:lnTo>
                  <a:pt x="86812" y="956618"/>
                </a:lnTo>
                <a:lnTo>
                  <a:pt x="51091" y="907011"/>
                </a:lnTo>
                <a:lnTo>
                  <a:pt x="24461" y="855679"/>
                </a:lnTo>
                <a:lnTo>
                  <a:pt x="7303" y="802767"/>
                </a:lnTo>
                <a:lnTo>
                  <a:pt x="0" y="748418"/>
                </a:lnTo>
                <a:lnTo>
                  <a:pt x="157" y="720998"/>
                </a:lnTo>
                <a:lnTo>
                  <a:pt x="8024" y="666761"/>
                </a:lnTo>
                <a:lnTo>
                  <a:pt x="25654" y="613464"/>
                </a:lnTo>
                <a:lnTo>
                  <a:pt x="52680" y="561274"/>
                </a:lnTo>
                <a:lnTo>
                  <a:pt x="88731" y="510356"/>
                </a:lnTo>
                <a:lnTo>
                  <a:pt x="133440" y="460877"/>
                </a:lnTo>
                <a:lnTo>
                  <a:pt x="186437" y="413003"/>
                </a:lnTo>
                <a:lnTo>
                  <a:pt x="247354" y="366900"/>
                </a:lnTo>
                <a:lnTo>
                  <a:pt x="280667" y="344564"/>
                </a:lnTo>
                <a:lnTo>
                  <a:pt x="315822" y="322734"/>
                </a:lnTo>
                <a:lnTo>
                  <a:pt x="352773" y="301428"/>
                </a:lnTo>
                <a:lnTo>
                  <a:pt x="391473" y="280670"/>
                </a:lnTo>
                <a:lnTo>
                  <a:pt x="431877" y="260478"/>
                </a:lnTo>
                <a:lnTo>
                  <a:pt x="473938" y="240874"/>
                </a:lnTo>
                <a:lnTo>
                  <a:pt x="517610" y="221879"/>
                </a:lnTo>
                <a:lnTo>
                  <a:pt x="562848" y="203514"/>
                </a:lnTo>
                <a:lnTo>
                  <a:pt x="609604" y="185798"/>
                </a:lnTo>
                <a:lnTo>
                  <a:pt x="657834" y="168754"/>
                </a:lnTo>
                <a:lnTo>
                  <a:pt x="707490" y="152401"/>
                </a:lnTo>
                <a:lnTo>
                  <a:pt x="758528" y="136761"/>
                </a:lnTo>
                <a:lnTo>
                  <a:pt x="810900" y="121854"/>
                </a:lnTo>
                <a:lnTo>
                  <a:pt x="864561" y="107700"/>
                </a:lnTo>
                <a:lnTo>
                  <a:pt x="919464" y="94322"/>
                </a:lnTo>
                <a:lnTo>
                  <a:pt x="975564" y="81739"/>
                </a:lnTo>
                <a:lnTo>
                  <a:pt x="1032814" y="69972"/>
                </a:lnTo>
                <a:lnTo>
                  <a:pt x="1091169" y="59041"/>
                </a:lnTo>
                <a:lnTo>
                  <a:pt x="1150581" y="48969"/>
                </a:lnTo>
                <a:lnTo>
                  <a:pt x="1211006" y="39775"/>
                </a:lnTo>
                <a:lnTo>
                  <a:pt x="1272397" y="31480"/>
                </a:lnTo>
                <a:lnTo>
                  <a:pt x="1334708" y="24105"/>
                </a:lnTo>
                <a:lnTo>
                  <a:pt x="1397893" y="17671"/>
                </a:lnTo>
                <a:lnTo>
                  <a:pt x="1461906" y="12198"/>
                </a:lnTo>
                <a:lnTo>
                  <a:pt x="1526700" y="7707"/>
                </a:lnTo>
                <a:lnTo>
                  <a:pt x="1592230" y="4219"/>
                </a:lnTo>
                <a:lnTo>
                  <a:pt x="1658449" y="1755"/>
                </a:lnTo>
                <a:lnTo>
                  <a:pt x="1724712" y="347"/>
                </a:lnTo>
                <a:lnTo>
                  <a:pt x="1790370" y="0"/>
                </a:lnTo>
                <a:lnTo>
                  <a:pt x="1855377" y="696"/>
                </a:lnTo>
                <a:lnTo>
                  <a:pt x="1919683" y="2418"/>
                </a:lnTo>
                <a:lnTo>
                  <a:pt x="1983243" y="5147"/>
                </a:lnTo>
                <a:lnTo>
                  <a:pt x="2046007" y="8865"/>
                </a:lnTo>
                <a:lnTo>
                  <a:pt x="2107929" y="13556"/>
                </a:lnTo>
                <a:lnTo>
                  <a:pt x="2168961" y="19199"/>
                </a:lnTo>
                <a:lnTo>
                  <a:pt x="2229054" y="25778"/>
                </a:lnTo>
                <a:lnTo>
                  <a:pt x="2288162" y="33275"/>
                </a:lnTo>
                <a:lnTo>
                  <a:pt x="2346237" y="41670"/>
                </a:lnTo>
                <a:lnTo>
                  <a:pt x="2403231" y="50947"/>
                </a:lnTo>
                <a:lnTo>
                  <a:pt x="2459096" y="61088"/>
                </a:lnTo>
                <a:lnTo>
                  <a:pt x="2513784" y="72074"/>
                </a:lnTo>
                <a:lnTo>
                  <a:pt x="2567249" y="83887"/>
                </a:lnTo>
                <a:lnTo>
                  <a:pt x="2619442" y="96510"/>
                </a:lnTo>
                <a:lnTo>
                  <a:pt x="2670316" y="109924"/>
                </a:lnTo>
                <a:lnTo>
                  <a:pt x="2719822" y="124111"/>
                </a:lnTo>
                <a:lnTo>
                  <a:pt x="2767914" y="139054"/>
                </a:lnTo>
                <a:lnTo>
                  <a:pt x="2814544" y="154734"/>
                </a:lnTo>
                <a:lnTo>
                  <a:pt x="2859663" y="171134"/>
                </a:lnTo>
                <a:lnTo>
                  <a:pt x="2903225" y="188234"/>
                </a:lnTo>
                <a:lnTo>
                  <a:pt x="2945181" y="206018"/>
                </a:lnTo>
                <a:lnTo>
                  <a:pt x="2985485" y="224468"/>
                </a:lnTo>
                <a:lnTo>
                  <a:pt x="3024087" y="243564"/>
                </a:lnTo>
                <a:lnTo>
                  <a:pt x="3060941" y="263290"/>
                </a:lnTo>
                <a:lnTo>
                  <a:pt x="3095999" y="283627"/>
                </a:lnTo>
                <a:lnTo>
                  <a:pt x="3129214" y="304557"/>
                </a:lnTo>
                <a:lnTo>
                  <a:pt x="3189921" y="348126"/>
                </a:lnTo>
                <a:lnTo>
                  <a:pt x="3242680" y="393851"/>
                </a:lnTo>
                <a:lnTo>
                  <a:pt x="3287112" y="441589"/>
                </a:lnTo>
                <a:lnTo>
                  <a:pt x="3322833" y="491196"/>
                </a:lnTo>
                <a:lnTo>
                  <a:pt x="3349463" y="542528"/>
                </a:lnTo>
                <a:lnTo>
                  <a:pt x="3366621" y="595441"/>
                </a:lnTo>
                <a:lnTo>
                  <a:pt x="3373925" y="649790"/>
                </a:lnTo>
                <a:lnTo>
                  <a:pt x="3373768" y="677209"/>
                </a:lnTo>
                <a:lnTo>
                  <a:pt x="3365901" y="731447"/>
                </a:lnTo>
                <a:lnTo>
                  <a:pt x="3348270" y="784744"/>
                </a:lnTo>
                <a:lnTo>
                  <a:pt x="3321245" y="836934"/>
                </a:lnTo>
                <a:lnTo>
                  <a:pt x="3285193" y="887851"/>
                </a:lnTo>
                <a:lnTo>
                  <a:pt x="3240485" y="937330"/>
                </a:lnTo>
                <a:lnTo>
                  <a:pt x="3187488" y="985204"/>
                </a:lnTo>
                <a:lnTo>
                  <a:pt x="3126570" y="1031307"/>
                </a:lnTo>
                <a:lnTo>
                  <a:pt x="3093257" y="1053643"/>
                </a:lnTo>
                <a:lnTo>
                  <a:pt x="3058102" y="1075474"/>
                </a:lnTo>
                <a:lnTo>
                  <a:pt x="3021151" y="1096779"/>
                </a:lnTo>
                <a:lnTo>
                  <a:pt x="2982451" y="1117538"/>
                </a:lnTo>
                <a:lnTo>
                  <a:pt x="2942047" y="1137729"/>
                </a:lnTo>
                <a:lnTo>
                  <a:pt x="2899986" y="1157333"/>
                </a:lnTo>
                <a:lnTo>
                  <a:pt x="2856314" y="1176328"/>
                </a:lnTo>
                <a:lnTo>
                  <a:pt x="2811077" y="1194694"/>
                </a:lnTo>
                <a:lnTo>
                  <a:pt x="2764320" y="1212409"/>
                </a:lnTo>
                <a:lnTo>
                  <a:pt x="2716090" y="1229453"/>
                </a:lnTo>
                <a:lnTo>
                  <a:pt x="2666434" y="1245806"/>
                </a:lnTo>
                <a:lnTo>
                  <a:pt x="2615397" y="1261447"/>
                </a:lnTo>
                <a:lnTo>
                  <a:pt x="2563024" y="1276354"/>
                </a:lnTo>
                <a:lnTo>
                  <a:pt x="2509364" y="1290507"/>
                </a:lnTo>
                <a:lnTo>
                  <a:pt x="2454460" y="1303886"/>
                </a:lnTo>
                <a:lnTo>
                  <a:pt x="2398360" y="1316469"/>
                </a:lnTo>
                <a:lnTo>
                  <a:pt x="2341110" y="1328236"/>
                </a:lnTo>
                <a:lnTo>
                  <a:pt x="2282756" y="1339166"/>
                </a:lnTo>
                <a:lnTo>
                  <a:pt x="2223343" y="1349238"/>
                </a:lnTo>
                <a:lnTo>
                  <a:pt x="2162918" y="1358432"/>
                </a:lnTo>
                <a:lnTo>
                  <a:pt x="2101527" y="1366727"/>
                </a:lnTo>
                <a:lnTo>
                  <a:pt x="2039216" y="1374102"/>
                </a:lnTo>
                <a:lnTo>
                  <a:pt x="1976031" y="1380537"/>
                </a:lnTo>
                <a:lnTo>
                  <a:pt x="1912018" y="1386009"/>
                </a:lnTo>
                <a:lnTo>
                  <a:pt x="1847224" y="1390500"/>
                </a:lnTo>
                <a:lnTo>
                  <a:pt x="1781694" y="1393988"/>
                </a:lnTo>
                <a:lnTo>
                  <a:pt x="1715475" y="1396452"/>
                </a:lnTo>
                <a:lnTo>
                  <a:pt x="1649212" y="1397861"/>
                </a:lnTo>
                <a:lnTo>
                  <a:pt x="1583554" y="1398208"/>
                </a:lnTo>
                <a:close/>
              </a:path>
            </a:pathLst>
          </a:custGeom>
          <a:solidFill>
            <a:srgbClr val="030017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8" name="Google Shape;38;p6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/>
          <p:cNvSpPr txBox="1"/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" type="subTitle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7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1" i="0" sz="30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57613" y="1060087"/>
            <a:ext cx="8209280" cy="336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2000" u="none" cap="none" strike="noStrike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888888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  <a:defRPr b="0" i="0" sz="1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0" lvl="1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0" lvl="2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0" lvl="3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0" lvl="4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0" lvl="5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0" lvl="6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0" lvl="7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0" lvl="8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  <a:defRPr b="0" i="0" sz="11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1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1.jp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22.png"/><Relationship Id="rId5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Relationship Id="rId4" Type="http://schemas.openxmlformats.org/officeDocument/2006/relationships/image" Target="../media/image17.jpg"/><Relationship Id="rId5" Type="http://schemas.openxmlformats.org/officeDocument/2006/relationships/image" Target="../media/image8.png"/><Relationship Id="rId6" Type="http://schemas.openxmlformats.org/officeDocument/2006/relationships/image" Target="../media/image1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15.png"/><Relationship Id="rId5" Type="http://schemas.openxmlformats.org/officeDocument/2006/relationships/image" Target="../media/image11.jpg"/><Relationship Id="rId6" Type="http://schemas.openxmlformats.org/officeDocument/2006/relationships/image" Target="../media/image3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1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1E3E"/>
            </a:gs>
            <a:gs pos="100000">
              <a:srgbClr val="003F83"/>
            </a:gs>
          </a:gsLst>
          <a:lin ang="16200038" scaled="0"/>
        </a:gra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8" title="Recurso 1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" y="609600"/>
            <a:ext cx="1131802" cy="328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8" title="line-01-transparent.png"/>
          <p:cNvPicPr preferRelativeResize="0"/>
          <p:nvPr/>
        </p:nvPicPr>
        <p:blipFill rotWithShape="1">
          <a:blip r:embed="rId4">
            <a:alphaModFix/>
          </a:blip>
          <a:srcRect b="20937" l="9722" r="23686" t="-26891"/>
          <a:stretch/>
        </p:blipFill>
        <p:spPr>
          <a:xfrm>
            <a:off x="4572000" y="0"/>
            <a:ext cx="4572001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8"/>
          <p:cNvSpPr txBox="1"/>
          <p:nvPr/>
        </p:nvSpPr>
        <p:spPr>
          <a:xfrm>
            <a:off x="609600" y="3446450"/>
            <a:ext cx="7924800" cy="7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</a:pPr>
            <a:r>
              <a:rPr b="0" i="0" lang="en-US" sz="43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at </a:t>
            </a:r>
            <a:r>
              <a:rPr b="0" i="0" lang="en-US" sz="4300" u="none" cap="none" strike="noStrike">
                <a:solidFill>
                  <a:srgbClr val="37DAAD"/>
                </a:solidFill>
                <a:latin typeface="DM Sans"/>
                <a:ea typeface="DM Sans"/>
                <a:cs typeface="DM Sans"/>
                <a:sym typeface="DM Sans"/>
              </a:rPr>
              <a:t>{{cliente_nombre}}</a:t>
            </a:r>
            <a:endParaRPr b="0" i="0" sz="43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5" name="Google Shape;55;p8"/>
          <p:cNvSpPr txBox="1"/>
          <p:nvPr/>
        </p:nvSpPr>
        <p:spPr>
          <a:xfrm>
            <a:off x="609600" y="4297500"/>
            <a:ext cx="7924800" cy="2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</a:pPr>
            <a:r>
              <a:rPr b="0" i="0" lang="en-US" sz="1400" u="none" cap="none" strike="noStrike">
                <a:solidFill>
                  <a:srgbClr val="EAEBF3"/>
                </a:solidFill>
                <a:latin typeface="DM Sans"/>
                <a:ea typeface="DM Sans"/>
                <a:cs typeface="DM Sans"/>
                <a:sym typeface="DM Sans"/>
              </a:rPr>
              <a:t>Kick-off meeting </a:t>
            </a:r>
            <a:r>
              <a:rPr b="0" i="0" lang="en-US" sz="1400" u="none" cap="none" strike="noStrike">
                <a:solidFill>
                  <a:srgbClr val="37DAAD"/>
                </a:solidFill>
                <a:latin typeface="DM Sans"/>
                <a:ea typeface="DM Sans"/>
                <a:cs typeface="DM Sans"/>
                <a:sym typeface="DM Sans"/>
              </a:rPr>
              <a:t>{{fecha_kickoff}}</a:t>
            </a:r>
            <a:endParaRPr b="0" i="0" sz="11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</a:pPr>
            <a:r>
              <a:t/>
            </a:r>
            <a:endParaRPr b="0" i="0" sz="1400" u="none" cap="none" strike="noStrike">
              <a:solidFill>
                <a:srgbClr val="EAEBF3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6" name="Google Shape;56;p8"/>
          <p:cNvSpPr txBox="1"/>
          <p:nvPr/>
        </p:nvSpPr>
        <p:spPr>
          <a:xfrm>
            <a:off x="609600" y="2714450"/>
            <a:ext cx="7924800" cy="7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</a:pPr>
            <a:r>
              <a:rPr b="0" i="0" lang="en-US" sz="43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Implementing Dost</a:t>
            </a:r>
            <a:endParaRPr b="0" i="0" sz="43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61" name="Google Shape;61;p9"/>
          <p:cNvSpPr txBox="1"/>
          <p:nvPr>
            <p:ph type="title"/>
          </p:nvPr>
        </p:nvSpPr>
        <p:spPr>
          <a:xfrm>
            <a:off x="399550" y="204785"/>
            <a:ext cx="8344800" cy="61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33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Contenido de la sesión</a:t>
            </a:r>
            <a:endParaRPr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2" name="Google Shape;62;p9"/>
          <p:cNvSpPr txBox="1"/>
          <p:nvPr/>
        </p:nvSpPr>
        <p:spPr>
          <a:xfrm>
            <a:off x="1593799" y="1240787"/>
            <a:ext cx="4972200" cy="31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-490220" lvl="0" marL="56324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DAAD"/>
              </a:buClr>
              <a:buSzPts val="2000"/>
              <a:buFont typeface="DM Sans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Presentación del equipo</a:t>
            </a:r>
            <a:endParaRPr b="0" i="0" sz="2000" u="none" cap="none" strike="noStrike"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52133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37DAAD"/>
              </a:buClr>
              <a:buSzPts val="2000"/>
              <a:buFont typeface="DM Sans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Contexto y necesidades</a:t>
            </a:r>
            <a:endParaRPr b="0" i="0" sz="2000" u="none" cap="none" strike="noStrike"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52133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37DAAD"/>
              </a:buClr>
              <a:buSzPts val="2000"/>
              <a:buFont typeface="DM Sans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Alcance y Compromiso</a:t>
            </a:r>
            <a:endParaRPr b="0" i="0" sz="2000" u="none" cap="none" strike="noStrike"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52514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37DAAD"/>
              </a:buClr>
              <a:buSzPts val="2000"/>
              <a:buFont typeface="DM Sans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Plan de trabajo</a:t>
            </a:r>
            <a:endParaRPr b="0" i="0" sz="2000" u="none" cap="none" strike="noStrike"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53149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37DAAD"/>
              </a:buClr>
              <a:buSzPts val="2000"/>
              <a:buFont typeface="DM Sans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Información necesaria</a:t>
            </a:r>
            <a:endParaRPr b="0" i="0" sz="2000" u="none" cap="none" strike="noStrike"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52768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37DAAD"/>
              </a:buClr>
              <a:buSzPts val="2000"/>
              <a:buFont typeface="DM Sans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Próximos pasos</a:t>
            </a:r>
            <a:endParaRPr b="0" i="0" sz="2000" u="none" cap="none" strike="noStrike"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3" name="Google Shape;63;p9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4" name="Google Shape;64;p9"/>
          <p:cNvSpPr/>
          <p:nvPr/>
        </p:nvSpPr>
        <p:spPr>
          <a:xfrm>
            <a:off x="400474" y="1012766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1</a:t>
            </a:r>
            <a:endParaRPr/>
          </a:p>
        </p:txBody>
      </p:sp>
      <p:pic>
        <p:nvPicPr>
          <p:cNvPr id="66" name="Google Shape;66;p9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71" name="Google Shape;71;p10"/>
          <p:cNvSpPr txBox="1"/>
          <p:nvPr>
            <p:ph type="title"/>
          </p:nvPr>
        </p:nvSpPr>
        <p:spPr>
          <a:xfrm>
            <a:off x="399550" y="204785"/>
            <a:ext cx="83448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1. Presentación del equipo</a:t>
            </a:r>
            <a:endParaRPr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72" name="Google Shape;72;p10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73" name="Google Shape;7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5160" y="988449"/>
            <a:ext cx="1344921" cy="504366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0"/>
          <p:cNvSpPr/>
          <p:nvPr/>
        </p:nvSpPr>
        <p:spPr>
          <a:xfrm>
            <a:off x="2050974" y="1243175"/>
            <a:ext cx="2309510" cy="3382061"/>
          </a:xfrm>
          <a:custGeom>
            <a:rect b="b" l="l" r="r" t="t"/>
            <a:pathLst>
              <a:path extrusionOk="0" h="3088640" w="1885314">
                <a:moveTo>
                  <a:pt x="0" y="0"/>
                </a:moveTo>
                <a:lnTo>
                  <a:pt x="1884899" y="0"/>
                </a:lnTo>
              </a:path>
              <a:path extrusionOk="0" h="3088640" w="1885314">
                <a:moveTo>
                  <a:pt x="1884899" y="3088199"/>
                </a:moveTo>
                <a:lnTo>
                  <a:pt x="1884899" y="0"/>
                </a:lnTo>
              </a:path>
            </a:pathLst>
          </a:cu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75" name="Google Shape;75;p10"/>
          <p:cNvSpPr/>
          <p:nvPr/>
        </p:nvSpPr>
        <p:spPr>
          <a:xfrm>
            <a:off x="4363800" y="1243175"/>
            <a:ext cx="4218392" cy="3382061"/>
          </a:xfrm>
          <a:custGeom>
            <a:rect b="b" l="l" r="r" t="t"/>
            <a:pathLst>
              <a:path extrusionOk="0" h="3088640" w="1885315">
                <a:moveTo>
                  <a:pt x="0" y="0"/>
                </a:moveTo>
                <a:lnTo>
                  <a:pt x="1884899" y="0"/>
                </a:lnTo>
              </a:path>
              <a:path extrusionOk="0" h="3088640" w="1885315">
                <a:moveTo>
                  <a:pt x="1884899" y="3088199"/>
                </a:moveTo>
                <a:lnTo>
                  <a:pt x="1884899" y="0"/>
                </a:lnTo>
              </a:path>
            </a:pathLst>
          </a:cu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7" name="Google Shape;77;p10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5726" y="4733838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0"/>
          <p:cNvSpPr/>
          <p:nvPr/>
        </p:nvSpPr>
        <p:spPr>
          <a:xfrm>
            <a:off x="539575" y="1692525"/>
            <a:ext cx="1150000" cy="1150000"/>
          </a:xfrm>
          <a:prstGeom prst="rect">
            <a:avLst/>
          </a:prstGeom>
          <a:solidFill>
            <a:srgbClr val="EDEDED"/>
          </a:solidFill>
          <a:ln cap="flat" cmpd="sng" w="9525">
            <a:solidFill>
              <a:srgbClr val="B0B0B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18000" lIns="45000" spcFirstLastPara="1" rIns="45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909090"/>
                </a:solidFill>
                <a:latin typeface="DM Sans"/>
                <a:ea typeface="DM Sans"/>
                <a:cs typeface="DM Sans"/>
                <a:sym typeface="DM Sans"/>
              </a:rPr>
              <a:t>{{persona_1_foto}}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B0B0B0"/>
                </a:solidFill>
                <a:latin typeface="DM Sans"/>
                <a:ea typeface="DM Sans"/>
                <a:cs typeface="DM Sans"/>
                <a:sym typeface="DM Sans"/>
              </a:rPr>
              <a:t>(copiar del banco)</a:t>
            </a:r>
            <a:endParaRPr/>
          </a:p>
        </p:txBody>
      </p:sp>
      <p:sp>
        <p:nvSpPr>
          <p:cNvPr id="79" name="Google Shape;79;p10"/>
          <p:cNvSpPr/>
          <p:nvPr/>
        </p:nvSpPr>
        <p:spPr>
          <a:xfrm>
            <a:off x="539575" y="3219575"/>
            <a:ext cx="1150000" cy="1150000"/>
          </a:xfrm>
          <a:prstGeom prst="rect">
            <a:avLst/>
          </a:prstGeom>
          <a:solidFill>
            <a:srgbClr val="EDEDED"/>
          </a:solidFill>
          <a:ln cap="flat" cmpd="sng" w="9525">
            <a:solidFill>
              <a:srgbClr val="B0B0B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18000" lIns="45000" spcFirstLastPara="1" rIns="45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909090"/>
                </a:solidFill>
                <a:latin typeface="DM Sans"/>
                <a:ea typeface="DM Sans"/>
                <a:cs typeface="DM Sans"/>
                <a:sym typeface="DM Sans"/>
              </a:rPr>
              <a:t>{{persona_3_foto}}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B0B0B0"/>
                </a:solidFill>
                <a:latin typeface="DM Sans"/>
                <a:ea typeface="DM Sans"/>
                <a:cs typeface="DM Sans"/>
                <a:sym typeface="DM Sans"/>
              </a:rPr>
              <a:t>(copiar del banco)</a:t>
            </a:r>
            <a:endParaRPr/>
          </a:p>
        </p:txBody>
      </p:sp>
      <p:sp>
        <p:nvSpPr>
          <p:cNvPr id="80" name="Google Shape;80;p10"/>
          <p:cNvSpPr/>
          <p:nvPr/>
        </p:nvSpPr>
        <p:spPr>
          <a:xfrm>
            <a:off x="4698963" y="1692525"/>
            <a:ext cx="1150000" cy="1150000"/>
          </a:xfrm>
          <a:prstGeom prst="rect">
            <a:avLst/>
          </a:prstGeom>
          <a:solidFill>
            <a:srgbClr val="EDEDED"/>
          </a:solidFill>
          <a:ln cap="flat" cmpd="sng" w="9525">
            <a:solidFill>
              <a:srgbClr val="B0B0B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18000" lIns="45000" spcFirstLastPara="1" rIns="45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909090"/>
                </a:solidFill>
                <a:latin typeface="DM Sans"/>
                <a:ea typeface="DM Sans"/>
                <a:cs typeface="DM Sans"/>
                <a:sym typeface="DM Sans"/>
              </a:rPr>
              <a:t>{{persona_2_foto}}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B0B0B0"/>
                </a:solidFill>
                <a:latin typeface="DM Sans"/>
                <a:ea typeface="DM Sans"/>
                <a:cs typeface="DM Sans"/>
                <a:sym typeface="DM Sans"/>
              </a:rPr>
              <a:t>(copiar del banco)</a:t>
            </a:r>
            <a:endParaRPr/>
          </a:p>
        </p:txBody>
      </p:sp>
      <p:sp>
        <p:nvSpPr>
          <p:cNvPr id="81" name="Google Shape;81;p10"/>
          <p:cNvSpPr/>
          <p:nvPr/>
        </p:nvSpPr>
        <p:spPr>
          <a:xfrm>
            <a:off x="4698950" y="3219575"/>
            <a:ext cx="1150000" cy="1150000"/>
          </a:xfrm>
          <a:prstGeom prst="rect">
            <a:avLst/>
          </a:prstGeom>
          <a:solidFill>
            <a:srgbClr val="EDEDED"/>
          </a:solidFill>
          <a:ln cap="flat" cmpd="sng" w="9525">
            <a:solidFill>
              <a:srgbClr val="B0B0B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18000" lIns="45000" spcFirstLastPara="1" rIns="45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909090"/>
                </a:solidFill>
                <a:latin typeface="DM Sans"/>
                <a:ea typeface="DM Sans"/>
                <a:cs typeface="DM Sans"/>
                <a:sym typeface="DM Sans"/>
              </a:rPr>
              <a:t>{{persona_4_foto}}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B0B0B0"/>
                </a:solidFill>
                <a:latin typeface="DM Sans"/>
                <a:ea typeface="DM Sans"/>
                <a:cs typeface="DM Sans"/>
                <a:sym typeface="DM Sans"/>
              </a:rPr>
              <a:t>(copiar del banco)</a:t>
            </a:r>
            <a:endParaRPr/>
          </a:p>
        </p:txBody>
      </p:sp>
      <p:sp>
        <p:nvSpPr>
          <p:cNvPr id="82" name="Google Shape;82;p10"/>
          <p:cNvSpPr txBox="1"/>
          <p:nvPr/>
        </p:nvSpPr>
        <p:spPr>
          <a:xfrm>
            <a:off x="1797724" y="19325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{{persona_1_nombre}}</a:t>
            </a:r>
            <a:endParaRPr b="0" i="0" sz="12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{{persona_1_rol}}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{{persona_1_bio_l1}}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{{persona_1_bio_l2}}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3" name="Google Shape;83;p10"/>
          <p:cNvSpPr txBox="1"/>
          <p:nvPr/>
        </p:nvSpPr>
        <p:spPr>
          <a:xfrm>
            <a:off x="5957110" y="19325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{{persona_2_nombre}}</a:t>
            </a:r>
            <a:endParaRPr b="0" i="0" sz="12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{{persona_2_rol}}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{{persona_2_bio_l1}}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{{persona_2_bio_l2}}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4" name="Google Shape;84;p10"/>
          <p:cNvSpPr txBox="1"/>
          <p:nvPr/>
        </p:nvSpPr>
        <p:spPr>
          <a:xfrm>
            <a:off x="1797724" y="345957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{{persona_3_nombre}}</a:t>
            </a:r>
            <a:endParaRPr b="0" i="0" sz="12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{{persona_3_rol}}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{{persona_3_bio_l1}}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{{persona_3_bio_l2}}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5" name="Google Shape;85;p10"/>
          <p:cNvSpPr txBox="1"/>
          <p:nvPr/>
        </p:nvSpPr>
        <p:spPr>
          <a:xfrm>
            <a:off x="5957099" y="345957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{{persona_4_nombre}}</a:t>
            </a:r>
            <a:endParaRPr b="0" i="0" sz="12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{{persona_4_rol}}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{{persona_4_bio_l1}}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{{persona_4_bio_l2}}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1"/>
          <p:cNvSpPr txBox="1"/>
          <p:nvPr>
            <p:ph idx="1" type="body"/>
          </p:nvPr>
        </p:nvSpPr>
        <p:spPr>
          <a:xfrm>
            <a:off x="543600" y="1280646"/>
            <a:ext cx="3650700" cy="33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3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Contexto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508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b="0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{{cliente_descripcion}}</a:t>
            </a:r>
            <a:endParaRPr sz="1100"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b="1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País o países donde opera:</a:t>
            </a:r>
            <a:r>
              <a:rPr b="0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{{cliente_pais}}</a:t>
            </a:r>
            <a:endParaRPr b="0" sz="11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b="1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Número aproximado de documentos anuales:</a:t>
            </a:r>
            <a:r>
              <a:rPr b="0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{{documentos_anuales}}</a:t>
            </a:r>
            <a:endParaRPr b="0" sz="11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1" marL="9144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○"/>
            </a:pPr>
            <a:r>
              <a:rPr lang="en-US" sz="1100">
                <a:latin typeface="DM Sans"/>
                <a:ea typeface="DM Sans"/>
                <a:cs typeface="DM Sans"/>
                <a:sym typeface="DM Sans"/>
              </a:rPr>
              <a:t>{{facturas_anuales}} </a:t>
            </a:r>
            <a:endParaRPr sz="11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b="1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ERP:</a:t>
            </a:r>
            <a:r>
              <a:rPr b="0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{{erp_nombre}}</a:t>
            </a:r>
            <a:endParaRPr b="0" sz="11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b="1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Partner:</a:t>
            </a:r>
            <a:r>
              <a:rPr b="0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{{partner_implantador}}</a:t>
            </a:r>
            <a:endParaRPr b="0" sz="11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20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b="1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Proveedores:</a:t>
            </a:r>
            <a:r>
              <a:rPr b="0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{{num_proveedores}}</a:t>
            </a:r>
            <a:endParaRPr b="0" sz="11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descr="$PPTXTitle" id="91" name="Google Shape;91;p11"/>
          <p:cNvSpPr txBox="1"/>
          <p:nvPr>
            <p:ph type="title"/>
          </p:nvPr>
        </p:nvSpPr>
        <p:spPr>
          <a:xfrm>
            <a:off x="399550" y="345475"/>
            <a:ext cx="29769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2. Contexto</a:t>
            </a:r>
            <a:endParaRPr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2" name="Google Shape;92;p11"/>
          <p:cNvSpPr/>
          <p:nvPr/>
        </p:nvSpPr>
        <p:spPr>
          <a:xfrm>
            <a:off x="4567677" y="4621800"/>
            <a:ext cx="3940175" cy="0"/>
          </a:xfrm>
          <a:custGeom>
            <a:rect b="b" l="l" r="r" t="t"/>
            <a:pathLst>
              <a:path extrusionOk="0" h="120000" w="3940175">
                <a:moveTo>
                  <a:pt x="0" y="0"/>
                </a:moveTo>
                <a:lnTo>
                  <a:pt x="3939899" y="0"/>
                </a:lnTo>
              </a:path>
            </a:pathLst>
          </a:custGeom>
          <a:noFill/>
          <a:ln cap="flat" cmpd="sng" w="190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93" name="Google Shape;93;p11"/>
          <p:cNvGrpSpPr/>
          <p:nvPr/>
        </p:nvGrpSpPr>
        <p:grpSpPr>
          <a:xfrm>
            <a:off x="400474" y="0"/>
            <a:ext cx="8743525" cy="5143500"/>
            <a:chOff x="400474" y="0"/>
            <a:chExt cx="8743525" cy="5143500"/>
          </a:xfrm>
        </p:grpSpPr>
        <p:pic>
          <p:nvPicPr>
            <p:cNvPr id="94" name="Google Shape;94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571999" y="0"/>
              <a:ext cx="4572000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5" name="Google Shape;95;p11"/>
            <p:cNvSpPr/>
            <p:nvPr/>
          </p:nvSpPr>
          <p:spPr>
            <a:xfrm>
              <a:off x="4571999" y="0"/>
              <a:ext cx="4572000" cy="5143500"/>
            </a:xfrm>
            <a:custGeom>
              <a:rect b="b" l="l" r="r" t="t"/>
              <a:pathLst>
                <a:path extrusionOk="0" h="5143500" w="4572000">
                  <a:moveTo>
                    <a:pt x="0" y="0"/>
                  </a:moveTo>
                  <a:lnTo>
                    <a:pt x="4571999" y="0"/>
                  </a:lnTo>
                  <a:lnTo>
                    <a:pt x="4571999" y="5143499"/>
                  </a:lnTo>
                  <a:lnTo>
                    <a:pt x="0" y="514349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chemeClr val="dk1"/>
                </a:gs>
                <a:gs pos="100000">
                  <a:srgbClr val="0B004F"/>
                </a:gs>
              </a:gsLst>
              <a:lin ang="0" scaled="0"/>
            </a:gra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DM Sans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96" name="Google Shape;96;p11"/>
            <p:cNvSpPr/>
            <p:nvPr/>
          </p:nvSpPr>
          <p:spPr>
            <a:xfrm>
              <a:off x="400474" y="1012766"/>
              <a:ext cx="8183245" cy="3609340"/>
            </a:xfrm>
            <a:custGeom>
              <a:rect b="b" l="l" r="r" t="t"/>
              <a:pathLst>
                <a:path extrusionOk="0" h="3609340" w="8183245">
                  <a:moveTo>
                    <a:pt x="0" y="0"/>
                  </a:moveTo>
                  <a:lnTo>
                    <a:pt x="8182799" y="0"/>
                  </a:lnTo>
                </a:path>
                <a:path extrusionOk="0" h="3609340" w="8183245">
                  <a:moveTo>
                    <a:pt x="0" y="3609025"/>
                  </a:moveTo>
                  <a:lnTo>
                    <a:pt x="8182799" y="3609025"/>
                  </a:lnTo>
                </a:path>
              </a:pathLst>
            </a:custGeom>
            <a:noFill/>
            <a:ln cap="flat" cmpd="sng" w="19025">
              <a:solidFill>
                <a:srgbClr val="0B00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DM Sans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97" name="Google Shape;97;p11"/>
            <p:cNvSpPr/>
            <p:nvPr/>
          </p:nvSpPr>
          <p:spPr>
            <a:xfrm>
              <a:off x="4567677" y="1012775"/>
              <a:ext cx="3940175" cy="0"/>
            </a:xfrm>
            <a:custGeom>
              <a:rect b="b" l="l" r="r" t="t"/>
              <a:pathLst>
                <a:path extrusionOk="0" h="120000" w="3940175">
                  <a:moveTo>
                    <a:pt x="0" y="0"/>
                  </a:moveTo>
                  <a:lnTo>
                    <a:pt x="3939899" y="0"/>
                  </a:lnTo>
                </a:path>
              </a:pathLst>
            </a:custGeom>
            <a:noFill/>
            <a:ln cap="flat" cmpd="sng" w="190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DM Sans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98" name="Google Shape;98;p11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>
                <a:solidFill>
                  <a:srgbClr val="FFFFFF"/>
                </a:solidFill>
              </a:rPr>
              <a:t>3</a:t>
            </a:r>
            <a:endParaRPr/>
          </a:p>
        </p:txBody>
      </p:sp>
      <p:pic>
        <p:nvPicPr>
          <p:cNvPr id="99" name="Google Shape;99;p11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1"/>
          <p:cNvSpPr txBox="1"/>
          <p:nvPr/>
        </p:nvSpPr>
        <p:spPr>
          <a:xfrm>
            <a:off x="4962375" y="1280646"/>
            <a:ext cx="3470400" cy="16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DM Sans"/>
              <a:buNone/>
            </a:pPr>
            <a:r>
              <a:rPr b="1" i="0" lang="en-US" sz="1300" u="none" cap="none" strike="noStrike">
                <a:solidFill>
                  <a:srgbClr val="37DAAD"/>
                </a:solidFill>
                <a:latin typeface="DM Sans"/>
                <a:ea typeface="DM Sans"/>
                <a:cs typeface="DM Sans"/>
                <a:sym typeface="DM Sans"/>
              </a:rPr>
              <a:t>Objetivos prioritarios del proyecto</a:t>
            </a:r>
            <a:endParaRPr b="0" i="0" sz="1100" u="none" cap="none" strike="noStrike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508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{{objetivo_prioritario}}</a:t>
            </a:r>
            <a:endParaRPr b="1" i="0" sz="11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DM Sans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{{objetivo_detalle_1}}</a:t>
            </a:r>
            <a:endParaRPr b="0" i="0" sz="11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DM Sans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{{objetivo_detalle_2}}</a:t>
            </a:r>
            <a:endParaRPr b="0" i="0" sz="11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DM Sans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{{objetivo_detalle_3}}</a:t>
            </a:r>
            <a:endParaRPr b="0" i="0" sz="11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DM Sans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{{objetivo_detalle_4}}</a:t>
            </a:r>
            <a:endParaRPr b="0" i="0" sz="11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1" name="Google Shape;101;p11"/>
          <p:cNvSpPr txBox="1"/>
          <p:nvPr/>
        </p:nvSpPr>
        <p:spPr>
          <a:xfrm>
            <a:off x="4835025" y="345475"/>
            <a:ext cx="3933825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DM Sans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Necesidades</a:t>
            </a:r>
            <a:endParaRPr b="0" i="0" sz="30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2"/>
          <p:cNvSpPr txBox="1"/>
          <p:nvPr>
            <p:ph idx="1" type="body"/>
          </p:nvPr>
        </p:nvSpPr>
        <p:spPr>
          <a:xfrm>
            <a:off x="557750" y="1308946"/>
            <a:ext cx="3650700" cy="30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Caso de Uso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b="1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{{alcance_bullet_1_label}}</a:t>
            </a:r>
            <a:r>
              <a:rPr b="0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{{alcance_bullet_1_resto}}</a:t>
            </a:r>
            <a:endParaRPr b="0" sz="1100"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Font typeface="DM Sans"/>
              <a:buChar char="●"/>
            </a:pPr>
            <a:r>
              <a:rPr b="1" lang="en-US" sz="11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{{alcance_bullet_2_label}}</a:t>
            </a:r>
            <a:r>
              <a:rPr b="0" lang="en-US" sz="11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{{alcance_bullet_2_resto}}</a:t>
            </a:r>
            <a:endParaRPr b="0" sz="11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b="1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{{alcance_bullet_3_label}}</a:t>
            </a:r>
            <a:r>
              <a:rPr b="0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{{alcance_bullet_3_resto}}</a:t>
            </a:r>
            <a:endParaRPr b="0" sz="11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b="1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{{alcance_bullet_4_label}}</a:t>
            </a:r>
            <a:r>
              <a:rPr b="0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{{alcance_bullet_4_resto}}</a:t>
            </a:r>
            <a:endParaRPr b="0" sz="11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107" name="Google Shape;107;p12"/>
          <p:cNvGrpSpPr/>
          <p:nvPr/>
        </p:nvGrpSpPr>
        <p:grpSpPr>
          <a:xfrm>
            <a:off x="400474" y="0"/>
            <a:ext cx="8743525" cy="5143500"/>
            <a:chOff x="400474" y="0"/>
            <a:chExt cx="8743525" cy="5143500"/>
          </a:xfrm>
        </p:grpSpPr>
        <p:pic>
          <p:nvPicPr>
            <p:cNvPr id="108" name="Google Shape;108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571999" y="0"/>
              <a:ext cx="4572000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9" name="Google Shape;109;p12"/>
            <p:cNvSpPr/>
            <p:nvPr/>
          </p:nvSpPr>
          <p:spPr>
            <a:xfrm>
              <a:off x="4571999" y="0"/>
              <a:ext cx="4572000" cy="5143500"/>
            </a:xfrm>
            <a:custGeom>
              <a:rect b="b" l="l" r="r" t="t"/>
              <a:pathLst>
                <a:path extrusionOk="0" h="5143500" w="4572000">
                  <a:moveTo>
                    <a:pt x="0" y="0"/>
                  </a:moveTo>
                  <a:lnTo>
                    <a:pt x="4571999" y="0"/>
                  </a:lnTo>
                  <a:lnTo>
                    <a:pt x="4571999" y="5143499"/>
                  </a:lnTo>
                  <a:lnTo>
                    <a:pt x="0" y="5143499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chemeClr val="dk1"/>
                </a:gs>
                <a:gs pos="100000">
                  <a:srgbClr val="0B004F"/>
                </a:gs>
              </a:gsLst>
              <a:lin ang="0" scaled="0"/>
            </a:gra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DM Sans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10" name="Google Shape;110;p12"/>
            <p:cNvSpPr/>
            <p:nvPr/>
          </p:nvSpPr>
          <p:spPr>
            <a:xfrm>
              <a:off x="400474" y="1012766"/>
              <a:ext cx="8183245" cy="3609340"/>
            </a:xfrm>
            <a:custGeom>
              <a:rect b="b" l="l" r="r" t="t"/>
              <a:pathLst>
                <a:path extrusionOk="0" h="3609340" w="8183245">
                  <a:moveTo>
                    <a:pt x="0" y="0"/>
                  </a:moveTo>
                  <a:lnTo>
                    <a:pt x="8182799" y="0"/>
                  </a:lnTo>
                </a:path>
                <a:path extrusionOk="0" h="3609340" w="8183245">
                  <a:moveTo>
                    <a:pt x="0" y="3609025"/>
                  </a:moveTo>
                  <a:lnTo>
                    <a:pt x="8182799" y="3609025"/>
                  </a:lnTo>
                </a:path>
              </a:pathLst>
            </a:custGeom>
            <a:noFill/>
            <a:ln cap="flat" cmpd="sng" w="19025">
              <a:solidFill>
                <a:srgbClr val="0B00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DM Sans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11" name="Google Shape;111;p12"/>
            <p:cNvSpPr/>
            <p:nvPr/>
          </p:nvSpPr>
          <p:spPr>
            <a:xfrm>
              <a:off x="4567677" y="1012775"/>
              <a:ext cx="3940175" cy="0"/>
            </a:xfrm>
            <a:custGeom>
              <a:rect b="b" l="l" r="r" t="t"/>
              <a:pathLst>
                <a:path extrusionOk="0" h="120000" w="3940175">
                  <a:moveTo>
                    <a:pt x="0" y="0"/>
                  </a:moveTo>
                  <a:lnTo>
                    <a:pt x="3939899" y="0"/>
                  </a:lnTo>
                </a:path>
              </a:pathLst>
            </a:custGeom>
            <a:noFill/>
            <a:ln cap="flat" cmpd="sng" w="190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DM Sans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descr="$PPTXTitle" id="112" name="Google Shape;112;p12"/>
          <p:cNvSpPr txBox="1"/>
          <p:nvPr>
            <p:ph type="title"/>
          </p:nvPr>
        </p:nvSpPr>
        <p:spPr>
          <a:xfrm>
            <a:off x="399550" y="345475"/>
            <a:ext cx="29769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3. Alcance</a:t>
            </a:r>
            <a:endParaRPr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3" name="Google Shape;113;p12"/>
          <p:cNvSpPr/>
          <p:nvPr/>
        </p:nvSpPr>
        <p:spPr>
          <a:xfrm>
            <a:off x="4567677" y="4621800"/>
            <a:ext cx="3940175" cy="0"/>
          </a:xfrm>
          <a:custGeom>
            <a:rect b="b" l="l" r="r" t="t"/>
            <a:pathLst>
              <a:path extrusionOk="0" h="120000" w="3940175">
                <a:moveTo>
                  <a:pt x="0" y="0"/>
                </a:moveTo>
                <a:lnTo>
                  <a:pt x="3939899" y="0"/>
                </a:lnTo>
              </a:path>
            </a:pathLst>
          </a:custGeom>
          <a:noFill/>
          <a:ln cap="flat" cmpd="sng" w="190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4" name="Google Shape;114;p12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>
                <a:solidFill>
                  <a:srgbClr val="FFFFFF"/>
                </a:solidFill>
              </a:rPr>
              <a:t>4</a:t>
            </a:r>
            <a:endParaRPr/>
          </a:p>
        </p:txBody>
      </p:sp>
      <p:pic>
        <p:nvPicPr>
          <p:cNvPr id="115" name="Google Shape;115;p12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2"/>
          <p:cNvSpPr txBox="1"/>
          <p:nvPr/>
        </p:nvSpPr>
        <p:spPr>
          <a:xfrm>
            <a:off x="4835025" y="259525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DM Sans"/>
              <a:buNone/>
            </a:pPr>
            <a:r>
              <a:rPr b="1" i="0" lang="en-US" sz="3000" u="none" cap="none" strike="noStrik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Compromiso</a:t>
            </a:r>
            <a:endParaRPr b="0" i="0" sz="30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7" name="Google Shape;117;p12"/>
          <p:cNvSpPr txBox="1"/>
          <p:nvPr/>
        </p:nvSpPr>
        <p:spPr>
          <a:xfrm>
            <a:off x="4962375" y="1150000"/>
            <a:ext cx="3470400" cy="33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DM Sans"/>
              <a:buNone/>
            </a:pPr>
            <a:r>
              <a:rPr b="1" i="0" lang="en-US" sz="1300" u="none" cap="none" strike="noStrike">
                <a:solidFill>
                  <a:srgbClr val="37DAAD"/>
                </a:solidFill>
                <a:latin typeface="DM Sans"/>
                <a:ea typeface="DM Sans"/>
                <a:cs typeface="DM Sans"/>
                <a:sym typeface="DM Sans"/>
              </a:rPr>
              <a:t>Compromiso {{cliente_nombre}} &amp; Dost</a:t>
            </a:r>
            <a:endParaRPr b="0" i="0" sz="1300" u="none" cap="none" strike="noStrike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DM Sans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Dost es un SaaS, no una consultora</a:t>
            </a:r>
            <a:endParaRPr b="0" i="0" sz="11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DM Sans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Dost construye a partir de la información compartida </a:t>
            </a:r>
            <a:endParaRPr b="0" i="0" sz="11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DM Sans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Cambios y parametrizaciones fuera del documento funcional / Onboarding → Premium Care</a:t>
            </a:r>
            <a:endParaRPr b="0" i="0" sz="11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DM Sans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Agilidad:</a:t>
            </a:r>
            <a:endParaRPr b="0" i="0" sz="11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DM Sans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Cumplimiento fechas acordadas</a:t>
            </a:r>
            <a:endParaRPr b="0" i="0" sz="11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DM Sans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Respuestas a solicitudes (correos, llamadas)</a:t>
            </a:r>
            <a:endParaRPr b="0" i="0" sz="11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DM Sans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Compartir documentación </a:t>
            </a:r>
            <a:endParaRPr b="0" i="0" sz="11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DM Sans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Realización de pruebas</a:t>
            </a:r>
            <a:endParaRPr b="0" i="0" sz="11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FFFFFF"/>
              </a:buClr>
              <a:buSzPts val="1100"/>
              <a:buFont typeface="DM Sans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Disponibilidad equipo (cierres / vacaciones)</a:t>
            </a:r>
            <a:endParaRPr b="0" i="0" sz="11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122" name="Google Shape;122;p13"/>
          <p:cNvSpPr txBox="1"/>
          <p:nvPr>
            <p:ph type="title"/>
          </p:nvPr>
        </p:nvSpPr>
        <p:spPr>
          <a:xfrm>
            <a:off x="399550" y="120000"/>
            <a:ext cx="8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4. Plan de trabajo estimado </a:t>
            </a:r>
            <a:endParaRPr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3" name="Google Shape;123;p13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5</a:t>
            </a:r>
            <a:endParaRPr/>
          </a:p>
        </p:txBody>
      </p:sp>
      <p:sp>
        <p:nvSpPr>
          <p:cNvPr id="124" name="Google Shape;124;p13"/>
          <p:cNvSpPr txBox="1"/>
          <p:nvPr/>
        </p:nvSpPr>
        <p:spPr>
          <a:xfrm>
            <a:off x="1590700" y="4786400"/>
            <a:ext cx="5931600" cy="12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175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DM Sans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* Todo lo que no esté mencionado en el alcance/plan de trabajo anterior, no formará parte del proyecto de onboarding</a:t>
            </a:r>
            <a:endParaRPr b="0" i="0" sz="8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25" name="Google Shape;125;p13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0476" y="4765900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3"/>
          <p:cNvSpPr/>
          <p:nvPr/>
        </p:nvSpPr>
        <p:spPr>
          <a:xfrm>
            <a:off x="4180000" y="880000"/>
            <a:ext cx="6350" cy="368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3"/>
          <p:cNvSpPr/>
          <p:nvPr/>
        </p:nvSpPr>
        <p:spPr>
          <a:xfrm>
            <a:off x="4761250" y="880000"/>
            <a:ext cx="6350" cy="368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3"/>
          <p:cNvSpPr/>
          <p:nvPr/>
        </p:nvSpPr>
        <p:spPr>
          <a:xfrm>
            <a:off x="5342500" y="880000"/>
            <a:ext cx="6350" cy="368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3"/>
          <p:cNvSpPr/>
          <p:nvPr/>
        </p:nvSpPr>
        <p:spPr>
          <a:xfrm>
            <a:off x="5923750" y="880000"/>
            <a:ext cx="6350" cy="368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3"/>
          <p:cNvSpPr/>
          <p:nvPr/>
        </p:nvSpPr>
        <p:spPr>
          <a:xfrm>
            <a:off x="6505000" y="880000"/>
            <a:ext cx="6350" cy="368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3"/>
          <p:cNvSpPr/>
          <p:nvPr/>
        </p:nvSpPr>
        <p:spPr>
          <a:xfrm>
            <a:off x="7086250" y="880000"/>
            <a:ext cx="6350" cy="368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3"/>
          <p:cNvSpPr/>
          <p:nvPr/>
        </p:nvSpPr>
        <p:spPr>
          <a:xfrm>
            <a:off x="7667500" y="880000"/>
            <a:ext cx="6350" cy="368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3"/>
          <p:cNvSpPr/>
          <p:nvPr/>
        </p:nvSpPr>
        <p:spPr>
          <a:xfrm>
            <a:off x="8248750" y="880000"/>
            <a:ext cx="6350" cy="368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3"/>
          <p:cNvSpPr/>
          <p:nvPr/>
        </p:nvSpPr>
        <p:spPr>
          <a:xfrm>
            <a:off x="8830000" y="880000"/>
            <a:ext cx="6350" cy="368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3"/>
          <p:cNvSpPr txBox="1"/>
          <p:nvPr/>
        </p:nvSpPr>
        <p:spPr>
          <a:xfrm>
            <a:off x="280000" y="880000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Fase</a:t>
            </a:r>
            <a:endParaRPr/>
          </a:p>
        </p:txBody>
      </p:sp>
      <p:sp>
        <p:nvSpPr>
          <p:cNvPr id="136" name="Google Shape;136;p13"/>
          <p:cNvSpPr txBox="1"/>
          <p:nvPr/>
        </p:nvSpPr>
        <p:spPr>
          <a:xfrm>
            <a:off x="1480000" y="88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Acciones</a:t>
            </a:r>
            <a:endParaRPr/>
          </a:p>
        </p:txBody>
      </p:sp>
      <p:sp>
        <p:nvSpPr>
          <p:cNvPr id="137" name="Google Shape;137;p13"/>
          <p:cNvSpPr txBox="1"/>
          <p:nvPr/>
        </p:nvSpPr>
        <p:spPr>
          <a:xfrm>
            <a:off x="41800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S1</a:t>
            </a:r>
            <a:endParaRPr/>
          </a:p>
        </p:txBody>
      </p:sp>
      <p:sp>
        <p:nvSpPr>
          <p:cNvPr id="138" name="Google Shape;138;p13"/>
          <p:cNvSpPr txBox="1"/>
          <p:nvPr/>
        </p:nvSpPr>
        <p:spPr>
          <a:xfrm>
            <a:off x="47612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S2</a:t>
            </a:r>
            <a:endParaRPr/>
          </a:p>
        </p:txBody>
      </p:sp>
      <p:sp>
        <p:nvSpPr>
          <p:cNvPr id="139" name="Google Shape;139;p13"/>
          <p:cNvSpPr txBox="1"/>
          <p:nvPr/>
        </p:nvSpPr>
        <p:spPr>
          <a:xfrm>
            <a:off x="53425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S3</a:t>
            </a:r>
            <a:endParaRPr/>
          </a:p>
        </p:txBody>
      </p:sp>
      <p:sp>
        <p:nvSpPr>
          <p:cNvPr id="140" name="Google Shape;140;p13"/>
          <p:cNvSpPr txBox="1"/>
          <p:nvPr/>
        </p:nvSpPr>
        <p:spPr>
          <a:xfrm>
            <a:off x="59237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S4</a:t>
            </a:r>
            <a:endParaRPr/>
          </a:p>
        </p:txBody>
      </p:sp>
      <p:sp>
        <p:nvSpPr>
          <p:cNvPr id="141" name="Google Shape;141;p13"/>
          <p:cNvSpPr txBox="1"/>
          <p:nvPr/>
        </p:nvSpPr>
        <p:spPr>
          <a:xfrm>
            <a:off x="65050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S5</a:t>
            </a:r>
            <a:endParaRPr/>
          </a:p>
        </p:txBody>
      </p:sp>
      <p:sp>
        <p:nvSpPr>
          <p:cNvPr id="142" name="Google Shape;142;p13"/>
          <p:cNvSpPr txBox="1"/>
          <p:nvPr/>
        </p:nvSpPr>
        <p:spPr>
          <a:xfrm>
            <a:off x="70862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S6</a:t>
            </a:r>
            <a:endParaRPr/>
          </a:p>
        </p:txBody>
      </p:sp>
      <p:sp>
        <p:nvSpPr>
          <p:cNvPr id="143" name="Google Shape;143;p13"/>
          <p:cNvSpPr txBox="1"/>
          <p:nvPr/>
        </p:nvSpPr>
        <p:spPr>
          <a:xfrm>
            <a:off x="76675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S7</a:t>
            </a:r>
            <a:endParaRPr/>
          </a:p>
        </p:txBody>
      </p:sp>
      <p:sp>
        <p:nvSpPr>
          <p:cNvPr id="144" name="Google Shape;144;p13"/>
          <p:cNvSpPr txBox="1"/>
          <p:nvPr/>
        </p:nvSpPr>
        <p:spPr>
          <a:xfrm>
            <a:off x="82487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S8</a:t>
            </a:r>
            <a:endParaRPr/>
          </a:p>
        </p:txBody>
      </p:sp>
      <p:sp>
        <p:nvSpPr>
          <p:cNvPr id="145" name="Google Shape;145;p13"/>
          <p:cNvSpPr/>
          <p:nvPr/>
        </p:nvSpPr>
        <p:spPr>
          <a:xfrm>
            <a:off x="280000" y="1160000"/>
            <a:ext cx="8550000" cy="8000"/>
          </a:xfrm>
          <a:prstGeom prst="rect">
            <a:avLst/>
          </a:prstGeom>
          <a:solidFill>
            <a:srgbClr val="0B004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3"/>
          <p:cNvSpPr txBox="1"/>
          <p:nvPr/>
        </p:nvSpPr>
        <p:spPr>
          <a:xfrm>
            <a:off x="280000" y="1190000"/>
            <a:ext cx="1200000" cy="1120000"/>
          </a:xfrm>
          <a:prstGeom prst="rect">
            <a:avLst/>
          </a:prstGeom>
          <a:solidFill>
            <a:srgbClr val="0B004F"/>
          </a:solidFill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Fase 1: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Análisis funcional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del proyecto</a:t>
            </a:r>
            <a:endParaRPr/>
          </a:p>
        </p:txBody>
      </p:sp>
      <p:sp>
        <p:nvSpPr>
          <p:cNvPr id="147" name="Google Shape;147;p13"/>
          <p:cNvSpPr txBox="1"/>
          <p:nvPr/>
        </p:nvSpPr>
        <p:spPr>
          <a:xfrm>
            <a:off x="1480000" y="119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●  Reunión de kick off del proyecto</a:t>
            </a:r>
            <a:endParaRPr/>
          </a:p>
        </p:txBody>
      </p:sp>
      <p:sp>
        <p:nvSpPr>
          <p:cNvPr id="148" name="Google Shape;148;p13"/>
          <p:cNvSpPr/>
          <p:nvPr/>
        </p:nvSpPr>
        <p:spPr>
          <a:xfrm>
            <a:off x="4276875" y="1300000"/>
            <a:ext cx="387500" cy="60000"/>
          </a:xfrm>
          <a:prstGeom prst="rect">
            <a:avLst/>
          </a:prstGeom>
          <a:solidFill>
            <a:srgbClr val="0B004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3"/>
          <p:cNvSpPr txBox="1"/>
          <p:nvPr/>
        </p:nvSpPr>
        <p:spPr>
          <a:xfrm>
            <a:off x="1480000" y="147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●  Diseño de los requisitos de extracción</a:t>
            </a:r>
            <a:endParaRPr/>
          </a:p>
        </p:txBody>
      </p:sp>
      <p:sp>
        <p:nvSpPr>
          <p:cNvPr id="150" name="Google Shape;150;p13"/>
          <p:cNvSpPr/>
          <p:nvPr/>
        </p:nvSpPr>
        <p:spPr>
          <a:xfrm>
            <a:off x="4276875" y="1580000"/>
            <a:ext cx="968750" cy="60000"/>
          </a:xfrm>
          <a:prstGeom prst="rect">
            <a:avLst/>
          </a:prstGeom>
          <a:solidFill>
            <a:srgbClr val="0B004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3"/>
          <p:cNvSpPr txBox="1"/>
          <p:nvPr/>
        </p:nvSpPr>
        <p:spPr>
          <a:xfrm>
            <a:off x="1480000" y="175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●  Aportación de información necesaria</a:t>
            </a:r>
            <a:endParaRPr/>
          </a:p>
        </p:txBody>
      </p:sp>
      <p:sp>
        <p:nvSpPr>
          <p:cNvPr id="152" name="Google Shape;152;p13"/>
          <p:cNvSpPr/>
          <p:nvPr/>
        </p:nvSpPr>
        <p:spPr>
          <a:xfrm>
            <a:off x="4276875" y="1860000"/>
            <a:ext cx="1550000" cy="60000"/>
          </a:xfrm>
          <a:prstGeom prst="rect">
            <a:avLst/>
          </a:prstGeom>
          <a:solidFill>
            <a:srgbClr val="0B004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3"/>
          <p:cNvSpPr txBox="1"/>
          <p:nvPr/>
        </p:nvSpPr>
        <p:spPr>
          <a:xfrm>
            <a:off x="1480000" y="203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●  Desarrollo y firma del documento funcional</a:t>
            </a:r>
            <a:endParaRPr/>
          </a:p>
        </p:txBody>
      </p:sp>
      <p:sp>
        <p:nvSpPr>
          <p:cNvPr id="154" name="Google Shape;154;p13"/>
          <p:cNvSpPr/>
          <p:nvPr/>
        </p:nvSpPr>
        <p:spPr>
          <a:xfrm>
            <a:off x="4858125" y="2140000"/>
            <a:ext cx="968750" cy="60000"/>
          </a:xfrm>
          <a:prstGeom prst="rect">
            <a:avLst/>
          </a:prstGeom>
          <a:solidFill>
            <a:srgbClr val="0B004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3"/>
          <p:cNvSpPr/>
          <p:nvPr/>
        </p:nvSpPr>
        <p:spPr>
          <a:xfrm>
            <a:off x="5726875" y="2070000"/>
            <a:ext cx="200000" cy="200000"/>
          </a:xfrm>
          <a:prstGeom prst="diamond">
            <a:avLst/>
          </a:prstGeom>
          <a:solidFill>
            <a:srgbClr val="37DAAD"/>
          </a:solidFill>
          <a:ln cap="flat" cmpd="sng" w="9525">
            <a:solidFill>
              <a:srgbClr val="1BA07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3"/>
          <p:cNvSpPr/>
          <p:nvPr/>
        </p:nvSpPr>
        <p:spPr>
          <a:xfrm>
            <a:off x="280000" y="2360000"/>
            <a:ext cx="8550000" cy="40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3"/>
          <p:cNvSpPr txBox="1"/>
          <p:nvPr/>
        </p:nvSpPr>
        <p:spPr>
          <a:xfrm>
            <a:off x="280000" y="2390000"/>
            <a:ext cx="1200000" cy="840000"/>
          </a:xfrm>
          <a:prstGeom prst="rect">
            <a:avLst/>
          </a:prstGeom>
          <a:solidFill>
            <a:srgbClr val="0B004F"/>
          </a:solidFill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Fase 2: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Configuración y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entrenamiento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de proveedores</a:t>
            </a:r>
            <a:endParaRPr/>
          </a:p>
        </p:txBody>
      </p:sp>
      <p:sp>
        <p:nvSpPr>
          <p:cNvPr id="158" name="Google Shape;158;p13"/>
          <p:cNvSpPr txBox="1"/>
          <p:nvPr/>
        </p:nvSpPr>
        <p:spPr>
          <a:xfrm>
            <a:off x="1480000" y="239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●  Creación del entorno Dost</a:t>
            </a:r>
            <a:endParaRPr/>
          </a:p>
        </p:txBody>
      </p:sp>
      <p:sp>
        <p:nvSpPr>
          <p:cNvPr id="159" name="Google Shape;159;p13"/>
          <p:cNvSpPr/>
          <p:nvPr/>
        </p:nvSpPr>
        <p:spPr>
          <a:xfrm>
            <a:off x="4858125" y="2500000"/>
            <a:ext cx="968750" cy="60000"/>
          </a:xfrm>
          <a:prstGeom prst="rect">
            <a:avLst/>
          </a:prstGeom>
          <a:solidFill>
            <a:srgbClr val="0B004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3"/>
          <p:cNvSpPr txBox="1"/>
          <p:nvPr/>
        </p:nvSpPr>
        <p:spPr>
          <a:xfrm>
            <a:off x="1480000" y="267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●  Desarrollo conexión {{gantt_erp_conector}}</a:t>
            </a:r>
            <a:endParaRPr/>
          </a:p>
        </p:txBody>
      </p:sp>
      <p:sp>
        <p:nvSpPr>
          <p:cNvPr id="161" name="Google Shape;161;p13"/>
          <p:cNvSpPr/>
          <p:nvPr/>
        </p:nvSpPr>
        <p:spPr>
          <a:xfrm>
            <a:off x="5439375" y="2780000"/>
            <a:ext cx="2131250" cy="60000"/>
          </a:xfrm>
          <a:prstGeom prst="rect">
            <a:avLst/>
          </a:prstGeom>
          <a:solidFill>
            <a:srgbClr val="0B004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3"/>
          <p:cNvSpPr txBox="1"/>
          <p:nvPr/>
        </p:nvSpPr>
        <p:spPr>
          <a:xfrm>
            <a:off x="1480000" y="295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●  Entrenamiento de proveedores ({{gantt_num_proveedores}})</a:t>
            </a:r>
            <a:endParaRPr/>
          </a:p>
        </p:txBody>
      </p:sp>
      <p:sp>
        <p:nvSpPr>
          <p:cNvPr id="163" name="Google Shape;163;p13"/>
          <p:cNvSpPr/>
          <p:nvPr/>
        </p:nvSpPr>
        <p:spPr>
          <a:xfrm>
            <a:off x="5439375" y="3060000"/>
            <a:ext cx="2131250" cy="60000"/>
          </a:xfrm>
          <a:prstGeom prst="rect">
            <a:avLst/>
          </a:prstGeom>
          <a:solidFill>
            <a:srgbClr val="0B004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3"/>
          <p:cNvSpPr/>
          <p:nvPr/>
        </p:nvSpPr>
        <p:spPr>
          <a:xfrm>
            <a:off x="7470625" y="2990000"/>
            <a:ext cx="200000" cy="200000"/>
          </a:xfrm>
          <a:prstGeom prst="diamond">
            <a:avLst/>
          </a:prstGeom>
          <a:solidFill>
            <a:srgbClr val="37DAAD"/>
          </a:solidFill>
          <a:ln cap="flat" cmpd="sng" w="9525">
            <a:solidFill>
              <a:srgbClr val="1BA07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3"/>
          <p:cNvSpPr/>
          <p:nvPr/>
        </p:nvSpPr>
        <p:spPr>
          <a:xfrm>
            <a:off x="280000" y="3280000"/>
            <a:ext cx="8550000" cy="40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13"/>
          <p:cNvSpPr txBox="1"/>
          <p:nvPr/>
        </p:nvSpPr>
        <p:spPr>
          <a:xfrm>
            <a:off x="280000" y="3310000"/>
            <a:ext cx="1200000" cy="840000"/>
          </a:xfrm>
          <a:prstGeom prst="rect">
            <a:avLst/>
          </a:prstGeom>
          <a:solidFill>
            <a:srgbClr val="0B004F"/>
          </a:solidFill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Fase 3: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Formación,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Pruebas y puesta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en producción</a:t>
            </a:r>
            <a:endParaRPr/>
          </a:p>
        </p:txBody>
      </p:sp>
      <p:sp>
        <p:nvSpPr>
          <p:cNvPr id="167" name="Google Shape;167;p13"/>
          <p:cNvSpPr txBox="1"/>
          <p:nvPr/>
        </p:nvSpPr>
        <p:spPr>
          <a:xfrm>
            <a:off x="1480000" y="331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●  Formación en el uso de la plataforma</a:t>
            </a:r>
            <a:endParaRPr/>
          </a:p>
        </p:txBody>
      </p:sp>
      <p:sp>
        <p:nvSpPr>
          <p:cNvPr id="168" name="Google Shape;168;p13"/>
          <p:cNvSpPr/>
          <p:nvPr/>
        </p:nvSpPr>
        <p:spPr>
          <a:xfrm>
            <a:off x="6601875" y="3420000"/>
            <a:ext cx="968750" cy="60000"/>
          </a:xfrm>
          <a:prstGeom prst="rect">
            <a:avLst/>
          </a:prstGeom>
          <a:solidFill>
            <a:srgbClr val="0B004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13"/>
          <p:cNvSpPr txBox="1"/>
          <p:nvPr/>
        </p:nvSpPr>
        <p:spPr>
          <a:xfrm>
            <a:off x="1480000" y="359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●  Pruebas de extracción y conciliación</a:t>
            </a:r>
            <a:endParaRPr/>
          </a:p>
        </p:txBody>
      </p:sp>
      <p:sp>
        <p:nvSpPr>
          <p:cNvPr id="170" name="Google Shape;170;p13"/>
          <p:cNvSpPr/>
          <p:nvPr/>
        </p:nvSpPr>
        <p:spPr>
          <a:xfrm>
            <a:off x="6601875" y="3700000"/>
            <a:ext cx="1550000" cy="60000"/>
          </a:xfrm>
          <a:prstGeom prst="rect">
            <a:avLst/>
          </a:prstGeom>
          <a:solidFill>
            <a:srgbClr val="0B004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13"/>
          <p:cNvSpPr txBox="1"/>
          <p:nvPr/>
        </p:nvSpPr>
        <p:spPr>
          <a:xfrm>
            <a:off x="1480000" y="387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●  Puesta en producción y traspaso a Soporte</a:t>
            </a:r>
            <a:endParaRPr/>
          </a:p>
        </p:txBody>
      </p:sp>
      <p:sp>
        <p:nvSpPr>
          <p:cNvPr id="172" name="Google Shape;172;p13"/>
          <p:cNvSpPr/>
          <p:nvPr/>
        </p:nvSpPr>
        <p:spPr>
          <a:xfrm>
            <a:off x="7764375" y="3980000"/>
            <a:ext cx="968750" cy="60000"/>
          </a:xfrm>
          <a:prstGeom prst="rect">
            <a:avLst/>
          </a:prstGeom>
          <a:solidFill>
            <a:srgbClr val="0B004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3"/>
          <p:cNvSpPr/>
          <p:nvPr/>
        </p:nvSpPr>
        <p:spPr>
          <a:xfrm>
            <a:off x="8633125" y="3910000"/>
            <a:ext cx="200000" cy="200000"/>
          </a:xfrm>
          <a:prstGeom prst="diamond">
            <a:avLst/>
          </a:prstGeom>
          <a:solidFill>
            <a:srgbClr val="37DAAD"/>
          </a:solidFill>
          <a:ln cap="flat" cmpd="sng" w="9525">
            <a:solidFill>
              <a:srgbClr val="1BA07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13"/>
          <p:cNvSpPr/>
          <p:nvPr/>
        </p:nvSpPr>
        <p:spPr>
          <a:xfrm>
            <a:off x="280000" y="4200000"/>
            <a:ext cx="8550000" cy="40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3"/>
          <p:cNvSpPr txBox="1"/>
          <p:nvPr/>
        </p:nvSpPr>
        <p:spPr>
          <a:xfrm>
            <a:off x="280000" y="4230000"/>
            <a:ext cx="1200000" cy="280000"/>
          </a:xfrm>
          <a:prstGeom prst="rect">
            <a:avLst/>
          </a:prstGeom>
          <a:solidFill>
            <a:srgbClr val="0B004F"/>
          </a:solidFill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Seguimiento</a:t>
            </a:r>
            <a:endParaRPr/>
          </a:p>
        </p:txBody>
      </p:sp>
      <p:sp>
        <p:nvSpPr>
          <p:cNvPr id="176" name="Google Shape;176;p13"/>
          <p:cNvSpPr txBox="1"/>
          <p:nvPr/>
        </p:nvSpPr>
        <p:spPr>
          <a:xfrm>
            <a:off x="1480000" y="423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●  Reuniones semanales de seguimiento</a:t>
            </a:r>
            <a:endParaRPr/>
          </a:p>
        </p:txBody>
      </p:sp>
      <p:sp>
        <p:nvSpPr>
          <p:cNvPr id="177" name="Google Shape;177;p13"/>
          <p:cNvSpPr/>
          <p:nvPr/>
        </p:nvSpPr>
        <p:spPr>
          <a:xfrm>
            <a:off x="4276875" y="4340000"/>
            <a:ext cx="4456250" cy="60000"/>
          </a:xfrm>
          <a:prstGeom prst="rect">
            <a:avLst/>
          </a:prstGeom>
          <a:solidFill>
            <a:srgbClr val="0B004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13"/>
          <p:cNvSpPr/>
          <p:nvPr/>
        </p:nvSpPr>
        <p:spPr>
          <a:xfrm>
            <a:off x="7730000" y="630000"/>
            <a:ext cx="180000" cy="180000"/>
          </a:xfrm>
          <a:prstGeom prst="diamond">
            <a:avLst/>
          </a:prstGeom>
          <a:solidFill>
            <a:srgbClr val="37DAAD"/>
          </a:solidFill>
          <a:ln cap="flat" cmpd="sng" w="9525">
            <a:solidFill>
              <a:srgbClr val="1BA07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3"/>
          <p:cNvSpPr txBox="1"/>
          <p:nvPr/>
        </p:nvSpPr>
        <p:spPr>
          <a:xfrm>
            <a:off x="7970000" y="630000"/>
            <a:ext cx="8000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Hito clave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184" name="Google Shape;184;p14"/>
          <p:cNvSpPr txBox="1"/>
          <p:nvPr>
            <p:ph type="title"/>
          </p:nvPr>
        </p:nvSpPr>
        <p:spPr>
          <a:xfrm>
            <a:off x="399550" y="204785"/>
            <a:ext cx="83448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5. Información necesaria</a:t>
            </a:r>
            <a:endParaRPr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5" name="Google Shape;185;p14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6" name="Google Shape;186;p14"/>
          <p:cNvSpPr/>
          <p:nvPr/>
        </p:nvSpPr>
        <p:spPr>
          <a:xfrm>
            <a:off x="400474" y="1012766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7" name="Google Shape;187;p14"/>
          <p:cNvSpPr txBox="1"/>
          <p:nvPr/>
        </p:nvSpPr>
        <p:spPr>
          <a:xfrm>
            <a:off x="473600" y="1177329"/>
            <a:ext cx="7446600" cy="377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3325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DM Sans"/>
              <a:buNone/>
            </a:pPr>
            <a:r>
              <a:rPr b="1" i="0" lang="en-US" sz="1300" u="sng" cap="none" strike="noStrike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Envío en los próximos días</a:t>
            </a:r>
            <a:r>
              <a:rPr b="1" i="0" lang="en-US" sz="1100" u="none" cap="none" strike="noStrike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  <a:endParaRPr b="0" i="0" sz="1100" u="none" cap="none" strike="noStrike"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DM Sans"/>
              <a:buNone/>
            </a:pPr>
            <a:r>
              <a:t/>
            </a:r>
            <a:endParaRPr b="0" i="0" sz="1100" u="none" cap="none" strike="noStrike"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DM Sans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{{info_envio_1}}</a:t>
            </a:r>
            <a:endParaRPr b="0" i="0" sz="1100" u="none" cap="none" strike="noStrike"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DM Sans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{{info_envio_2}}</a:t>
            </a:r>
            <a:endParaRPr b="0" i="0" sz="1100" u="none" cap="none" strike="noStrike"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DM Sans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{{info_envio_3}}</a:t>
            </a:r>
            <a:endParaRPr b="0" i="0" sz="1100" u="none" cap="none" strike="noStrike"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DM Sans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{{info_envio_4}}</a:t>
            </a:r>
            <a:endParaRPr b="0" i="0" sz="1100" u="none" cap="none" strike="noStrike"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DM Sans"/>
              <a:buNone/>
            </a:pPr>
            <a:r>
              <a:t/>
            </a:r>
            <a:endParaRPr b="0" i="0" sz="1100" u="none" cap="none" strike="noStrike"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5080" rtl="0" algn="l">
              <a:lnSpc>
                <a:spcPct val="2114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DM Sans"/>
              <a:buNone/>
            </a:pPr>
            <a:r>
              <a:rPr b="1" i="0" lang="en-US" sz="1300" u="sng" cap="none" strike="noStrike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A decidir durante las reuniones de diseño funcional</a:t>
            </a:r>
            <a:r>
              <a:rPr b="1" i="0" lang="en-US" sz="1100" u="none" cap="none" strike="noStrike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  <a:endParaRPr b="0" i="0" sz="1100" u="none" cap="none" strike="noStrike"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5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DM Sans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{{info_decidir_1}}</a:t>
            </a:r>
            <a:endParaRPr b="0" i="0" sz="1100" u="none" cap="none" strike="noStrike"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5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DM Sans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{{info_decidir_2}}</a:t>
            </a:r>
            <a:endParaRPr b="0" i="0" sz="1100" u="none" cap="none" strike="noStrike"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8" name="Google Shape;188;p14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6</a:t>
            </a:r>
            <a:endParaRPr/>
          </a:p>
        </p:txBody>
      </p:sp>
      <p:pic>
        <p:nvPicPr>
          <p:cNvPr id="189" name="Google Shape;189;p14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194" name="Google Shape;194;p15"/>
          <p:cNvSpPr txBox="1"/>
          <p:nvPr>
            <p:ph type="title"/>
          </p:nvPr>
        </p:nvSpPr>
        <p:spPr>
          <a:xfrm>
            <a:off x="399550" y="204785"/>
            <a:ext cx="83448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6. Próximos pasos</a:t>
            </a:r>
            <a:endParaRPr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5" name="Google Shape;195;p15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6" name="Google Shape;196;p15"/>
          <p:cNvSpPr/>
          <p:nvPr/>
        </p:nvSpPr>
        <p:spPr>
          <a:xfrm>
            <a:off x="400474" y="1012766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7" name="Google Shape;197;p15"/>
          <p:cNvSpPr txBox="1"/>
          <p:nvPr/>
        </p:nvSpPr>
        <p:spPr>
          <a:xfrm>
            <a:off x="517690" y="1300000"/>
            <a:ext cx="7494900" cy="3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-3365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700"/>
              <a:buFont typeface="DM Sans"/>
              <a:buAutoNum type="arabicPeriod"/>
            </a:pPr>
            <a:r>
              <a:rPr b="1" i="0" lang="en-US" sz="1100" u="none" cap="none" strike="noStrike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Fijar reuniones de seguimiento semanal y personas involucradas</a:t>
            </a:r>
            <a:endParaRPr b="0" i="0" sz="1100" u="none" cap="none" strike="noStrike"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36550" lvl="0" marL="457200" marR="415925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1E3E"/>
              </a:buClr>
              <a:buSzPts val="1700"/>
              <a:buFont typeface="DM Sans"/>
              <a:buAutoNum type="arabicPeriod"/>
            </a:pPr>
            <a:r>
              <a:rPr b="1" i="0" lang="en-US" sz="1100" u="none" cap="none" strike="noStrike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Fijar primeras reuniones funcionales esta semana</a:t>
            </a:r>
            <a:endParaRPr b="0" i="0" sz="1100" u="none" cap="none" strike="noStrike"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36550" lvl="0" marL="457200" marR="415925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1E3E"/>
              </a:buClr>
              <a:buSzPts val="1700"/>
              <a:buFont typeface="DM Sans"/>
              <a:buAutoNum type="arabicPeriod"/>
            </a:pPr>
            <a:r>
              <a:rPr b="1" i="0" lang="en-US" sz="1100" u="none" cap="none" strike="noStrike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{{proximo_paso_caso_uso}}</a:t>
            </a:r>
            <a:endParaRPr b="0" i="0" sz="1100" u="none" cap="none" strike="noStrike"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36550" lvl="0" marL="457200" marR="415925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1E3E"/>
              </a:buClr>
              <a:buSzPts val="1700"/>
              <a:buFont typeface="DM Sans"/>
              <a:buAutoNum type="arabicPeriod"/>
            </a:pPr>
            <a:r>
              <a:rPr b="1" i="0" lang="en-US" sz="1100" u="none" cap="none" strike="noStrike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{{proximo_paso_caso_uso_2}}</a:t>
            </a:r>
            <a:endParaRPr b="0" i="0" sz="1100" u="none" cap="none" strike="noStrike"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8" name="Google Shape;198;p15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7</a:t>
            </a:r>
            <a:endParaRPr/>
          </a:p>
        </p:txBody>
      </p:sp>
      <p:pic>
        <p:nvPicPr>
          <p:cNvPr id="199" name="Google Shape;199;p15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551" y="4773225"/>
            <a:ext cx="558049" cy="162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18223C"/>
            </a:gs>
            <a:gs pos="100000">
              <a:srgbClr val="003F83"/>
            </a:gs>
          </a:gsLst>
          <a:lin ang="16200038" scaled="0"/>
        </a:gra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16" title="Recurso 2@2x.png"/>
          <p:cNvPicPr preferRelativeResize="0"/>
          <p:nvPr/>
        </p:nvPicPr>
        <p:blipFill rotWithShape="1">
          <a:blip r:embed="rId3">
            <a:alphaModFix/>
          </a:blip>
          <a:srcRect b="-9756" l="-9374" r="6473" t="51825"/>
          <a:stretch/>
        </p:blipFill>
        <p:spPr>
          <a:xfrm>
            <a:off x="15875" y="0"/>
            <a:ext cx="9128125" cy="512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6" title="Recurso 1@2x.png"/>
          <p:cNvPicPr preferRelativeResize="0"/>
          <p:nvPr/>
        </p:nvPicPr>
        <p:blipFill rotWithShape="1">
          <a:blip r:embed="rId4">
            <a:alphaModFix/>
          </a:blip>
          <a:srcRect b="-3155" l="12279" r="-6299" t="50225"/>
          <a:stretch/>
        </p:blipFill>
        <p:spPr>
          <a:xfrm>
            <a:off x="0" y="0"/>
            <a:ext cx="9128125" cy="512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6" title="Recurso 1@4x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693750" y="1887450"/>
            <a:ext cx="3466573" cy="1007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7"/>
          <p:cNvSpPr txBox="1"/>
          <p:nvPr/>
        </p:nvSpPr>
        <p:spPr>
          <a:xfrm>
            <a:off x="399550" y="204775"/>
            <a:ext cx="80001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DM Sans"/>
              <a:buNone/>
            </a:pPr>
            <a:r>
              <a:rPr b="1" i="0" lang="en-US" sz="2800" u="none" cap="none" strike="noStrike">
                <a:solidFill>
                  <a:srgbClr val="001D3F"/>
                </a:solidFill>
                <a:latin typeface="DM Sans"/>
                <a:ea typeface="DM Sans"/>
                <a:cs typeface="DM Sans"/>
                <a:sym typeface="DM Sans"/>
              </a:rPr>
              <a:t>🔒 Banco — Equipo Dost</a:t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2" name="Google Shape;212;p17"/>
          <p:cNvSpPr txBox="1"/>
          <p:nvPr/>
        </p:nvSpPr>
        <p:spPr>
          <a:xfrm>
            <a:off x="399550" y="700000"/>
            <a:ext cx="80001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DM Sans"/>
              <a:buNone/>
            </a:pPr>
            <a:r>
              <a:rPr b="0" i="1" lang="en-US" sz="1000" u="none" cap="none" strike="noStrike">
                <a:solidFill>
                  <a:srgbClr val="9499A3"/>
                </a:solidFill>
                <a:latin typeface="DM Sans"/>
                <a:ea typeface="DM Sans"/>
                <a:cs typeface="DM Sans"/>
                <a:sym typeface="DM Sans"/>
              </a:rPr>
              <a:t>BANCO OCULTO — copia el bloque de la persona que aplica y pégalo en el slide 3</a:t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3" name="Google Shape;213;p17"/>
          <p:cNvSpPr txBox="1"/>
          <p:nvPr/>
        </p:nvSpPr>
        <p:spPr>
          <a:xfrm>
            <a:off x="190500" y="4905375"/>
            <a:ext cx="8763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1" lang="en-US" sz="900" u="none" cap="none" strike="noStrike">
                <a:solidFill>
                  <a:srgbClr val="9499A3"/>
                </a:solidFill>
                <a:latin typeface="DM Sans"/>
                <a:ea typeface="DM Sans"/>
                <a:cs typeface="DM Sans"/>
                <a:sym typeface="DM Sans"/>
              </a:rPr>
              <a:t>Slide oculto. No se muestra en presentación. Para PowerPoint: clic derecho sobre el slide en el panel lateral → 'Mostrar diapositiva' para activarlo si necesitas verlo.</a:t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14" name="Google Shape;214;p17"/>
          <p:cNvPicPr preferRelativeResize="0"/>
          <p:nvPr/>
        </p:nvPicPr>
        <p:blipFill rotWithShape="1">
          <a:blip r:embed="rId3">
            <a:alphaModFix/>
          </a:blip>
          <a:srcRect b="0" l="4279" r="4288" t="0"/>
          <a:stretch/>
        </p:blipFill>
        <p:spPr>
          <a:xfrm>
            <a:off x="399550" y="1086525"/>
            <a:ext cx="1077574" cy="11785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15" name="Google Shape;215;p17"/>
          <p:cNvPicPr preferRelativeResize="0"/>
          <p:nvPr/>
        </p:nvPicPr>
        <p:blipFill rotWithShape="1">
          <a:blip r:embed="rId4">
            <a:alphaModFix/>
          </a:blip>
          <a:srcRect b="0" l="3315" r="3306" t="0"/>
          <a:stretch/>
        </p:blipFill>
        <p:spPr>
          <a:xfrm>
            <a:off x="4291700" y="1086525"/>
            <a:ext cx="1077574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descr="paula_fochs.png" id="216" name="Google Shape;216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550" y="2908188"/>
            <a:ext cx="10775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descr="viviana_malacria.png" id="217" name="Google Shape;217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291700" y="2908188"/>
            <a:ext cx="10775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18" name="Google Shape;218;p17"/>
          <p:cNvSpPr txBox="1"/>
          <p:nvPr/>
        </p:nvSpPr>
        <p:spPr>
          <a:xfrm>
            <a:off x="1657698" y="13265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Carlos Gómez</a:t>
            </a:r>
            <a:endParaRPr b="0" i="0" sz="12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Onboarding Leader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9" name="Google Shape;219;p17"/>
          <p:cNvSpPr txBox="1"/>
          <p:nvPr/>
        </p:nvSpPr>
        <p:spPr>
          <a:xfrm>
            <a:off x="5549848" y="13265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Alejandra Barrena</a:t>
            </a:r>
            <a:endParaRPr b="0" i="0" sz="12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Onboarding Leader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20" name="Google Shape;220;p17"/>
          <p:cNvSpPr txBox="1"/>
          <p:nvPr/>
        </p:nvSpPr>
        <p:spPr>
          <a:xfrm>
            <a:off x="1657698" y="3148188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Paula Fochs</a:t>
            </a:r>
            <a:endParaRPr b="0" i="0" sz="12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Onboarding Leader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21" name="Google Shape;221;p17"/>
          <p:cNvSpPr txBox="1"/>
          <p:nvPr/>
        </p:nvSpPr>
        <p:spPr>
          <a:xfrm>
            <a:off x="5549848" y="3148188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Viviana Malacria</a:t>
            </a:r>
            <a:endParaRPr b="0" i="0" sz="12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Onboarding Leader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8"/>
          <p:cNvSpPr txBox="1"/>
          <p:nvPr/>
        </p:nvSpPr>
        <p:spPr>
          <a:xfrm>
            <a:off x="399550" y="204775"/>
            <a:ext cx="8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DM Sans"/>
              <a:buNone/>
            </a:pPr>
            <a:r>
              <a:rPr b="1" i="0" lang="en-US" sz="2800" u="none" cap="none" strike="noStrike">
                <a:solidFill>
                  <a:srgbClr val="001D3F"/>
                </a:solidFill>
                <a:latin typeface="DM Sans"/>
                <a:ea typeface="DM Sans"/>
                <a:cs typeface="DM Sans"/>
                <a:sym typeface="DM Sans"/>
              </a:rPr>
              <a:t>🔒 Banco — Equipo Dost</a:t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27" name="Google Shape;227;p18"/>
          <p:cNvSpPr txBox="1"/>
          <p:nvPr/>
        </p:nvSpPr>
        <p:spPr>
          <a:xfrm>
            <a:off x="190500" y="4905375"/>
            <a:ext cx="8763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1" lang="en-US" sz="900" u="none" cap="none" strike="noStrike">
                <a:solidFill>
                  <a:srgbClr val="9499A3"/>
                </a:solidFill>
                <a:latin typeface="DM Sans"/>
                <a:ea typeface="DM Sans"/>
                <a:cs typeface="DM Sans"/>
                <a:sym typeface="DM Sans"/>
              </a:rPr>
              <a:t>Slide oculto. No se muestra en presentación. Para PowerPoint: clic derecho sobre el slide en el panel lateral → 'Mostrar diapositiva' para activarlo si necesitas verlo.</a:t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descr="fernando_martin.png" id="228" name="Google Shape;22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550" y="1086525"/>
            <a:ext cx="1077575" cy="11619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29" name="Google Shape;229;p18" title="image.png"/>
          <p:cNvPicPr preferRelativeResize="0"/>
          <p:nvPr/>
        </p:nvPicPr>
        <p:blipFill rotWithShape="1">
          <a:blip r:embed="rId4">
            <a:alphaModFix/>
          </a:blip>
          <a:srcRect b="0" l="5346" r="5560" t="0"/>
          <a:stretch/>
        </p:blipFill>
        <p:spPr>
          <a:xfrm>
            <a:off x="399550" y="2908188"/>
            <a:ext cx="1077574" cy="1135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30" name="Google Shape;230;p18" title="20210907_170621.jpg"/>
          <p:cNvPicPr preferRelativeResize="0"/>
          <p:nvPr/>
        </p:nvPicPr>
        <p:blipFill rotWithShape="1">
          <a:blip r:embed="rId5">
            <a:alphaModFix/>
          </a:blip>
          <a:srcRect b="0" l="8127" r="7041" t="0"/>
          <a:stretch/>
        </p:blipFill>
        <p:spPr>
          <a:xfrm>
            <a:off x="4291700" y="1086525"/>
            <a:ext cx="1077576" cy="12095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31" name="Google Shape;231;p18" title="a62c8b21-0e69-46a9-b029-ad32e1bb5625.JPG"/>
          <p:cNvPicPr preferRelativeResize="0"/>
          <p:nvPr/>
        </p:nvPicPr>
        <p:blipFill rotWithShape="1">
          <a:blip r:embed="rId6">
            <a:alphaModFix/>
          </a:blip>
          <a:srcRect b="25167" l="0" r="0" t="0"/>
          <a:stretch/>
        </p:blipFill>
        <p:spPr>
          <a:xfrm>
            <a:off x="4291700" y="2908188"/>
            <a:ext cx="1077576" cy="120951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32" name="Google Shape;232;p18"/>
          <p:cNvSpPr txBox="1"/>
          <p:nvPr/>
        </p:nvSpPr>
        <p:spPr>
          <a:xfrm>
            <a:off x="1657698" y="13265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Fernando Martín</a:t>
            </a:r>
            <a:endParaRPr b="0" i="0" sz="12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CO-Founder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33" name="Google Shape;233;p18"/>
          <p:cNvSpPr txBox="1"/>
          <p:nvPr/>
        </p:nvSpPr>
        <p:spPr>
          <a:xfrm>
            <a:off x="5549849" y="13265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Ignacio Gassó</a:t>
            </a:r>
            <a:endParaRPr b="0" i="0" sz="12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Head of Customer Success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+8 años en Fintech B2B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+6 años en SaaS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34" name="Google Shape;234;p18"/>
          <p:cNvSpPr txBox="1"/>
          <p:nvPr/>
        </p:nvSpPr>
        <p:spPr>
          <a:xfrm>
            <a:off x="1657697" y="3148188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Marcia Bardauil</a:t>
            </a:r>
            <a:endParaRPr b="0" i="0" sz="12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Product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Payments, Bank and Global e-invoicing expert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35" name="Google Shape;235;p18"/>
          <p:cNvSpPr txBox="1"/>
          <p:nvPr/>
        </p:nvSpPr>
        <p:spPr>
          <a:xfrm>
            <a:off x="5549849" y="3148188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Alexandra Colina</a:t>
            </a:r>
            <a:endParaRPr b="0" i="0" sz="12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Technical Consultant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ERP &amp; API expert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9"/>
          <p:cNvSpPr txBox="1"/>
          <p:nvPr/>
        </p:nvSpPr>
        <p:spPr>
          <a:xfrm>
            <a:off x="399550" y="204775"/>
            <a:ext cx="8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DM Sans"/>
              <a:buNone/>
            </a:pPr>
            <a:r>
              <a:rPr b="1" i="0" lang="en-US" sz="2800" u="none" cap="none" strike="noStrike">
                <a:solidFill>
                  <a:srgbClr val="001D3F"/>
                </a:solidFill>
                <a:latin typeface="DM Sans"/>
                <a:ea typeface="DM Sans"/>
                <a:cs typeface="DM Sans"/>
                <a:sym typeface="DM Sans"/>
              </a:rPr>
              <a:t>🔒 Banco — Account Executives</a:t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1" name="Google Shape;241;p19"/>
          <p:cNvSpPr txBox="1"/>
          <p:nvPr/>
        </p:nvSpPr>
        <p:spPr>
          <a:xfrm>
            <a:off x="399550" y="70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DM Sans"/>
              <a:buNone/>
            </a:pPr>
            <a:r>
              <a:rPr b="0" i="1" lang="en-US" sz="1000" u="none" cap="none" strike="noStrike">
                <a:solidFill>
                  <a:srgbClr val="9499A3"/>
                </a:solidFill>
                <a:latin typeface="DM Sans"/>
                <a:ea typeface="DM Sans"/>
                <a:cs typeface="DM Sans"/>
                <a:sym typeface="DM Sans"/>
              </a:rPr>
              <a:t>BANCO OCULTO — copia el bloque de la persona que aplica y pégalo en el slide 3</a:t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2" name="Google Shape;242;p19"/>
          <p:cNvSpPr txBox="1"/>
          <p:nvPr/>
        </p:nvSpPr>
        <p:spPr>
          <a:xfrm>
            <a:off x="190500" y="4700000"/>
            <a:ext cx="8763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1" lang="en-US" sz="900" u="none" cap="none" strike="noStrike">
                <a:solidFill>
                  <a:srgbClr val="9499A3"/>
                </a:solidFill>
                <a:latin typeface="DM Sans"/>
                <a:ea typeface="DM Sans"/>
                <a:cs typeface="DM Sans"/>
                <a:sym typeface="DM Sans"/>
              </a:rPr>
              <a:t>Slide oculto. No se muestra en presentación. Para PowerPoint: clic derecho sobre el slide en el panel lateral → 'Mostrar diapositiva' para activarlo si necesitas verlo.</a:t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descr="adrian_tse.png" id="243" name="Google Shape;24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550" y="1020625"/>
            <a:ext cx="10775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44" name="Google Shape;244;p19"/>
          <p:cNvPicPr preferRelativeResize="0"/>
          <p:nvPr/>
        </p:nvPicPr>
        <p:blipFill rotWithShape="1">
          <a:blip r:embed="rId4">
            <a:alphaModFix/>
          </a:blip>
          <a:srcRect b="0" l="3315" r="3315" t="0"/>
          <a:stretch/>
        </p:blipFill>
        <p:spPr>
          <a:xfrm>
            <a:off x="4291700" y="1020625"/>
            <a:ext cx="1077550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45" name="Google Shape;245;p19"/>
          <p:cNvPicPr preferRelativeResize="0"/>
          <p:nvPr/>
        </p:nvPicPr>
        <p:blipFill rotWithShape="1">
          <a:blip r:embed="rId5">
            <a:alphaModFix/>
          </a:blip>
          <a:srcRect b="0" l="3315" r="3315" t="0"/>
          <a:stretch/>
        </p:blipFill>
        <p:spPr>
          <a:xfrm>
            <a:off x="399550" y="2962250"/>
            <a:ext cx="1077551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46" name="Google Shape;246;p19"/>
          <p:cNvPicPr preferRelativeResize="0"/>
          <p:nvPr/>
        </p:nvPicPr>
        <p:blipFill rotWithShape="1">
          <a:blip r:embed="rId6">
            <a:alphaModFix/>
          </a:blip>
          <a:srcRect b="0" l="4128" r="4128" t="0"/>
          <a:stretch/>
        </p:blipFill>
        <p:spPr>
          <a:xfrm>
            <a:off x="4301088" y="2962250"/>
            <a:ext cx="10587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47" name="Google Shape;247;p19"/>
          <p:cNvSpPr txBox="1"/>
          <p:nvPr/>
        </p:nvSpPr>
        <p:spPr>
          <a:xfrm>
            <a:off x="1657698" y="12606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Adrián Tse</a:t>
            </a:r>
            <a:endParaRPr b="0" i="0" sz="12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8" name="Google Shape;248;p19"/>
          <p:cNvSpPr txBox="1"/>
          <p:nvPr/>
        </p:nvSpPr>
        <p:spPr>
          <a:xfrm>
            <a:off x="5549823" y="12606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Dani Menendez</a:t>
            </a:r>
            <a:endParaRPr b="0" i="0" sz="12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9" name="Google Shape;249;p19"/>
          <p:cNvSpPr txBox="1"/>
          <p:nvPr/>
        </p:nvSpPr>
        <p:spPr>
          <a:xfrm>
            <a:off x="1657674" y="3202250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Diego Rengel</a:t>
            </a:r>
            <a:endParaRPr b="0" i="0" sz="12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0" name="Google Shape;250;p19"/>
          <p:cNvSpPr txBox="1"/>
          <p:nvPr/>
        </p:nvSpPr>
        <p:spPr>
          <a:xfrm>
            <a:off x="5540436" y="3202250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Miki Arrufat</a:t>
            </a:r>
            <a:endParaRPr b="0" i="0" sz="12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DM Sans"/>
                <a:ea typeface="DM Sans"/>
                <a:cs typeface="DM Sans"/>
                <a:sym typeface="DM Sans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DM Sans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0"/>
          <p:cNvSpPr txBox="1"/>
          <p:nvPr>
            <p:ph idx="1" type="body"/>
          </p:nvPr>
        </p:nvSpPr>
        <p:spPr>
          <a:xfrm>
            <a:off x="543600" y="1280646"/>
            <a:ext cx="3650700" cy="33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3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Discrepancias detectadas: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508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</a:pPr>
            <a:r>
              <a:rPr b="0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ELIMINAR este slide antes de presentar al cliente. Solo para uso interno del CSM.</a:t>
            </a:r>
            <a:endParaRPr sz="1300"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b="1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Discrepancia 1:</a:t>
            </a:r>
            <a:r>
              <a:rPr b="0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{{discrepancia_1}}</a:t>
            </a:r>
            <a:endParaRPr b="0" sz="13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b="1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Discrepancia 2:</a:t>
            </a:r>
            <a:r>
              <a:rPr b="0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{{discrepancia_2}}</a:t>
            </a:r>
            <a:endParaRPr b="0" sz="13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○"/>
            </a:pPr>
            <a:r>
              <a:rPr lang="en-US" sz="1100">
                <a:latin typeface="DM Sans"/>
                <a:ea typeface="DM Sans"/>
                <a:cs typeface="DM Sans"/>
                <a:sym typeface="DM Sans"/>
              </a:rPr>
              <a:t>{{discrepancia_3_opcional}} </a:t>
            </a:r>
            <a:endParaRPr sz="13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b="1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Pendiente 1:</a:t>
            </a:r>
            <a:r>
              <a:rPr b="0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{{pendiente_1}}</a:t>
            </a:r>
            <a:endParaRPr b="0" sz="13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b="1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Pendiente 2:</a:t>
            </a:r>
            <a:r>
              <a:rPr b="0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{{pendiente_2}}</a:t>
            </a:r>
            <a:endParaRPr b="0" sz="13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b="1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Pendiente 3:</a:t>
            </a:r>
            <a:r>
              <a:rPr b="0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{{pendiente_3}}</a:t>
            </a:r>
            <a:endParaRPr b="0" sz="13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descr="$PPTXTitle" id="256" name="Google Shape;256;p20"/>
          <p:cNvSpPr txBox="1"/>
          <p:nvPr>
            <p:ph type="title"/>
          </p:nvPr>
        </p:nvSpPr>
        <p:spPr>
          <a:xfrm>
            <a:off x="399550" y="345475"/>
            <a:ext cx="4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⚠️ PRE-KICKOFF</a:t>
            </a:r>
            <a:endParaRPr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7" name="Google Shape;257;p20"/>
          <p:cNvSpPr/>
          <p:nvPr/>
        </p:nvSpPr>
        <p:spPr>
          <a:xfrm>
            <a:off x="4567677" y="4621800"/>
            <a:ext cx="3940175" cy="0"/>
          </a:xfrm>
          <a:custGeom>
            <a:rect b="b" l="l" r="r" t="t"/>
            <a:pathLst>
              <a:path extrusionOk="0" h="120000" w="3940175">
                <a:moveTo>
                  <a:pt x="0" y="0"/>
                </a:moveTo>
                <a:lnTo>
                  <a:pt x="3939899" y="0"/>
                </a:lnTo>
              </a:path>
            </a:pathLst>
          </a:custGeom>
          <a:noFill/>
          <a:ln cap="flat" cmpd="sng" w="190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258" name="Google Shape;258;p20"/>
          <p:cNvGrpSpPr/>
          <p:nvPr/>
        </p:nvGrpSpPr>
        <p:grpSpPr>
          <a:xfrm>
            <a:off x="400474" y="0"/>
            <a:ext cx="8743525" cy="5143500"/>
            <a:chOff x="400474" y="0"/>
            <a:chExt cx="8743525" cy="5143500"/>
          </a:xfrm>
        </p:grpSpPr>
        <p:pic>
          <p:nvPicPr>
            <p:cNvPr id="259" name="Google Shape;259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571999" y="0"/>
              <a:ext cx="4572000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60" name="Google Shape;260;p20"/>
            <p:cNvSpPr/>
            <p:nvPr/>
          </p:nvSpPr>
          <p:spPr>
            <a:xfrm>
              <a:off x="4571999" y="0"/>
              <a:ext cx="4572000" cy="5143500"/>
            </a:xfrm>
            <a:custGeom>
              <a:rect b="b" l="l" r="r" t="t"/>
              <a:pathLst>
                <a:path extrusionOk="0" h="5143500" w="4572000">
                  <a:moveTo>
                    <a:pt x="0" y="0"/>
                  </a:moveTo>
                  <a:lnTo>
                    <a:pt x="4571999" y="0"/>
                  </a:lnTo>
                  <a:lnTo>
                    <a:pt x="4571999" y="5143499"/>
                  </a:lnTo>
                  <a:lnTo>
                    <a:pt x="0" y="51434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1E3E"/>
            </a:soli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DM Sans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61" name="Google Shape;261;p20"/>
            <p:cNvSpPr/>
            <p:nvPr/>
          </p:nvSpPr>
          <p:spPr>
            <a:xfrm>
              <a:off x="400474" y="1012766"/>
              <a:ext cx="8183245" cy="3609340"/>
            </a:xfrm>
            <a:custGeom>
              <a:rect b="b" l="l" r="r" t="t"/>
              <a:pathLst>
                <a:path extrusionOk="0" h="3609340" w="8183245">
                  <a:moveTo>
                    <a:pt x="0" y="0"/>
                  </a:moveTo>
                  <a:lnTo>
                    <a:pt x="8182799" y="0"/>
                  </a:lnTo>
                </a:path>
                <a:path extrusionOk="0" h="3609340" w="8183245">
                  <a:moveTo>
                    <a:pt x="0" y="3609025"/>
                  </a:moveTo>
                  <a:lnTo>
                    <a:pt x="8182799" y="3609025"/>
                  </a:lnTo>
                </a:path>
              </a:pathLst>
            </a:custGeom>
            <a:noFill/>
            <a:ln cap="flat" cmpd="sng" w="19025">
              <a:solidFill>
                <a:srgbClr val="0B00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DM Sans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62" name="Google Shape;262;p20"/>
            <p:cNvSpPr/>
            <p:nvPr/>
          </p:nvSpPr>
          <p:spPr>
            <a:xfrm>
              <a:off x="4567677" y="1012775"/>
              <a:ext cx="3940175" cy="0"/>
            </a:xfrm>
            <a:custGeom>
              <a:rect b="b" l="l" r="r" t="t"/>
              <a:pathLst>
                <a:path extrusionOk="0" h="120000" w="3940175">
                  <a:moveTo>
                    <a:pt x="0" y="0"/>
                  </a:moveTo>
                  <a:lnTo>
                    <a:pt x="3939899" y="0"/>
                  </a:lnTo>
                </a:path>
              </a:pathLst>
            </a:custGeom>
            <a:noFill/>
            <a:ln cap="flat" cmpd="sng" w="190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DM Sans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63" name="Google Shape;263;p20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>
                <a:solidFill>
                  <a:srgbClr val="FFFFFF"/>
                </a:solidFill>
              </a:rPr>
              <a:t>3</a:t>
            </a:r>
            <a:endParaRPr/>
          </a:p>
        </p:txBody>
      </p:sp>
      <p:pic>
        <p:nvPicPr>
          <p:cNvPr id="264" name="Google Shape;264;p20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20"/>
          <p:cNvSpPr txBox="1"/>
          <p:nvPr/>
        </p:nvSpPr>
        <p:spPr>
          <a:xfrm>
            <a:off x="4962375" y="1280646"/>
            <a:ext cx="3470400" cy="16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Sensibilidad política:</a:t>
            </a:r>
            <a:endParaRPr b="0" i="0" sz="1300" u="none" cap="none" strike="noStrike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508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Riesgos &amp; condiciones especiales:</a:t>
            </a:r>
            <a:endParaRPr b="1" i="0" sz="13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DM Sans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{{stakeholder_champion}}</a:t>
            </a:r>
            <a:endParaRPr b="0" i="0" sz="13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DM Sans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{{stakeholder_detractor}}</a:t>
            </a:r>
            <a:endParaRPr b="0" i="0" sz="13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DM Sans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{{filosofia_cliente}}</a:t>
            </a:r>
            <a:endParaRPr b="0" i="0" sz="13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DM Sans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{{riesgo_o_condicion_especial}}</a:t>
            </a:r>
            <a:endParaRPr b="0" i="0" sz="13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6" name="Google Shape;266;p20"/>
          <p:cNvSpPr txBox="1"/>
          <p:nvPr/>
        </p:nvSpPr>
        <p:spPr>
          <a:xfrm>
            <a:off x="4835025" y="345475"/>
            <a:ext cx="3933825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DM Sans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Crítico para el CSM</a:t>
            </a:r>
            <a:endParaRPr b="0" i="0" sz="30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21"/>
          <p:cNvSpPr txBox="1"/>
          <p:nvPr>
            <p:ph idx="1" type="body"/>
          </p:nvPr>
        </p:nvSpPr>
        <p:spPr>
          <a:xfrm>
            <a:off x="543600" y="1280646"/>
            <a:ext cx="3650700" cy="33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3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Discrepancias detectadas: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12700" marR="508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</a:pPr>
            <a:r>
              <a:rPr b="0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ELIMINAR este slide antes de presentar al cliente. Solo para uso interno del CSM.</a:t>
            </a:r>
            <a:endParaRPr sz="1300"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b="1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Discrepancia 1:</a:t>
            </a:r>
            <a:r>
              <a:rPr b="0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{{discrepancia_1}}</a:t>
            </a:r>
            <a:endParaRPr b="0" sz="13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b="1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Discrepancia 2:</a:t>
            </a:r>
            <a:r>
              <a:rPr b="0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{{discrepancia_2}}</a:t>
            </a:r>
            <a:endParaRPr b="0" sz="13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○"/>
            </a:pPr>
            <a:r>
              <a:rPr lang="en-US" sz="1100">
                <a:latin typeface="DM Sans"/>
                <a:ea typeface="DM Sans"/>
                <a:cs typeface="DM Sans"/>
                <a:sym typeface="DM Sans"/>
              </a:rPr>
              <a:t>{{discrepancia_3_opcional}} </a:t>
            </a:r>
            <a:endParaRPr sz="13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b="1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Pendiente 1:</a:t>
            </a:r>
            <a:r>
              <a:rPr b="0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{{pendiente_1}}</a:t>
            </a:r>
            <a:endParaRPr b="0" sz="13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b="1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Pendiente 2:</a:t>
            </a:r>
            <a:r>
              <a:rPr b="0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{{pendiente_2}}</a:t>
            </a:r>
            <a:endParaRPr b="0" sz="13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b="1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Pendiente 3:</a:t>
            </a:r>
            <a:r>
              <a:rPr b="0" lang="en-US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{{pendiente_3}}</a:t>
            </a:r>
            <a:endParaRPr b="0" sz="13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descr="$PPTXTitle" id="272" name="Google Shape;272;p21"/>
          <p:cNvSpPr txBox="1"/>
          <p:nvPr>
            <p:ph type="title"/>
          </p:nvPr>
        </p:nvSpPr>
        <p:spPr>
          <a:xfrm>
            <a:off x="399550" y="345475"/>
            <a:ext cx="4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DM Sans"/>
                <a:ea typeface="DM Sans"/>
                <a:cs typeface="DM Sans"/>
                <a:sym typeface="DM Sans"/>
              </a:rPr>
              <a:t>⚠️ PRE-KICKOFF</a:t>
            </a:r>
            <a:endParaRPr>
              <a:solidFill>
                <a:srgbClr val="001E3E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73" name="Google Shape;273;p21"/>
          <p:cNvSpPr/>
          <p:nvPr/>
        </p:nvSpPr>
        <p:spPr>
          <a:xfrm>
            <a:off x="4567677" y="4621800"/>
            <a:ext cx="3940175" cy="0"/>
          </a:xfrm>
          <a:custGeom>
            <a:rect b="b" l="l" r="r" t="t"/>
            <a:pathLst>
              <a:path extrusionOk="0" h="120000" w="3940175">
                <a:moveTo>
                  <a:pt x="0" y="0"/>
                </a:moveTo>
                <a:lnTo>
                  <a:pt x="3939899" y="0"/>
                </a:lnTo>
              </a:path>
            </a:pathLst>
          </a:custGeom>
          <a:noFill/>
          <a:ln cap="flat" cmpd="sng" w="190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DM Sans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274" name="Google Shape;274;p21"/>
          <p:cNvGrpSpPr/>
          <p:nvPr/>
        </p:nvGrpSpPr>
        <p:grpSpPr>
          <a:xfrm>
            <a:off x="400474" y="0"/>
            <a:ext cx="8743525" cy="5143500"/>
            <a:chOff x="400474" y="0"/>
            <a:chExt cx="8743525" cy="5143500"/>
          </a:xfrm>
        </p:grpSpPr>
        <p:pic>
          <p:nvPicPr>
            <p:cNvPr id="275" name="Google Shape;275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571999" y="0"/>
              <a:ext cx="4572000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6" name="Google Shape;276;p21"/>
            <p:cNvSpPr/>
            <p:nvPr/>
          </p:nvSpPr>
          <p:spPr>
            <a:xfrm>
              <a:off x="4571999" y="0"/>
              <a:ext cx="4572000" cy="5143500"/>
            </a:xfrm>
            <a:custGeom>
              <a:rect b="b" l="l" r="r" t="t"/>
              <a:pathLst>
                <a:path extrusionOk="0" h="5143500" w="4572000">
                  <a:moveTo>
                    <a:pt x="0" y="0"/>
                  </a:moveTo>
                  <a:lnTo>
                    <a:pt x="4571999" y="0"/>
                  </a:lnTo>
                  <a:lnTo>
                    <a:pt x="4571999" y="5143499"/>
                  </a:lnTo>
                  <a:lnTo>
                    <a:pt x="0" y="51434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1E3E"/>
            </a:soli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DM Sans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77" name="Google Shape;277;p21"/>
            <p:cNvSpPr/>
            <p:nvPr/>
          </p:nvSpPr>
          <p:spPr>
            <a:xfrm>
              <a:off x="400474" y="1012766"/>
              <a:ext cx="8183245" cy="3609340"/>
            </a:xfrm>
            <a:custGeom>
              <a:rect b="b" l="l" r="r" t="t"/>
              <a:pathLst>
                <a:path extrusionOk="0" h="3609340" w="8183245">
                  <a:moveTo>
                    <a:pt x="0" y="0"/>
                  </a:moveTo>
                  <a:lnTo>
                    <a:pt x="8182799" y="0"/>
                  </a:lnTo>
                </a:path>
                <a:path extrusionOk="0" h="3609340" w="8183245">
                  <a:moveTo>
                    <a:pt x="0" y="3609025"/>
                  </a:moveTo>
                  <a:lnTo>
                    <a:pt x="8182799" y="3609025"/>
                  </a:lnTo>
                </a:path>
              </a:pathLst>
            </a:custGeom>
            <a:noFill/>
            <a:ln cap="flat" cmpd="sng" w="19025">
              <a:solidFill>
                <a:srgbClr val="0B00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DM Sans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78" name="Google Shape;278;p21"/>
            <p:cNvSpPr/>
            <p:nvPr/>
          </p:nvSpPr>
          <p:spPr>
            <a:xfrm>
              <a:off x="4567677" y="1012775"/>
              <a:ext cx="3940175" cy="0"/>
            </a:xfrm>
            <a:custGeom>
              <a:rect b="b" l="l" r="r" t="t"/>
              <a:pathLst>
                <a:path extrusionOk="0" h="120000" w="3940175">
                  <a:moveTo>
                    <a:pt x="0" y="0"/>
                  </a:moveTo>
                  <a:lnTo>
                    <a:pt x="3939899" y="0"/>
                  </a:lnTo>
                </a:path>
              </a:pathLst>
            </a:custGeom>
            <a:noFill/>
            <a:ln cap="flat" cmpd="sng" w="190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DM Sans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79" name="Google Shape;279;p21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>
                <a:solidFill>
                  <a:srgbClr val="FFFFFF"/>
                </a:solidFill>
              </a:rPr>
              <a:t>3</a:t>
            </a:r>
            <a:endParaRPr/>
          </a:p>
        </p:txBody>
      </p:sp>
      <p:pic>
        <p:nvPicPr>
          <p:cNvPr id="280" name="Google Shape;280;p21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21"/>
          <p:cNvSpPr txBox="1"/>
          <p:nvPr/>
        </p:nvSpPr>
        <p:spPr>
          <a:xfrm>
            <a:off x="4962375" y="1280646"/>
            <a:ext cx="3470400" cy="16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Sensibilidad política:</a:t>
            </a:r>
            <a:endParaRPr b="0" i="0" sz="1300" u="none" cap="none" strike="noStrike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508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Riesgos &amp; condiciones especiales:</a:t>
            </a:r>
            <a:endParaRPr b="1" i="0" sz="13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DM Sans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{{stakeholder_champion}}</a:t>
            </a:r>
            <a:endParaRPr b="0" i="0" sz="13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DM Sans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{{stakeholder_detractor}}</a:t>
            </a:r>
            <a:endParaRPr b="0" i="0" sz="13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DM Sans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{{filosofia_cliente}}</a:t>
            </a:r>
            <a:endParaRPr b="0" i="0" sz="13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DM Sans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{{riesgo_o_condicion_especial}}</a:t>
            </a:r>
            <a:endParaRPr b="0" i="0" sz="13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82" name="Google Shape;282;p21"/>
          <p:cNvSpPr txBox="1"/>
          <p:nvPr/>
        </p:nvSpPr>
        <p:spPr>
          <a:xfrm>
            <a:off x="4835025" y="345475"/>
            <a:ext cx="3933825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DM Sans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Crítico para el CSM</a:t>
            </a:r>
            <a:endParaRPr b="0" i="0" sz="30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